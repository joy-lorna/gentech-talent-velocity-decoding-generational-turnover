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a3a6cf8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ba3a6cf8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a3a6cf8c8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a3a6cf8c8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ba3a6cf8c8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ba3a6cf8c8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a3a6cf8c8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ba3a6cf8c8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a3a6cf8c8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a3a6cf8c8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a3a6cf8c8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a3a6cf8c8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a3a6cf8c8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a3a6cf8c8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a3a6cf8c8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a3a6cf8c8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a3a6cf8c8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a3a6cf8c8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a3a6cf8c8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a3a6cf8c8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a3a6cf8c8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a3a6cf8c8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med">
        <p14:gallery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206225" y="1253252"/>
            <a:ext cx="8222100" cy="131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GB">
                <a:latin typeface="Georgia"/>
                <a:ea typeface="Georgia"/>
                <a:cs typeface="Georgia"/>
                <a:sym typeface="Georgia"/>
              </a:rPr>
              <a:t>The Leaky Bucket: Generational Tenure Analysis &amp; Strategy</a:t>
            </a:r>
            <a:endParaRPr b="1">
              <a:latin typeface="Georgia"/>
              <a:ea typeface="Georgia"/>
              <a:cs typeface="Georgia"/>
              <a:sym typeface="Georgia"/>
            </a:endParaRPr>
          </a:p>
        </p:txBody>
      </p:sp>
      <p:sp>
        <p:nvSpPr>
          <p:cNvPr id="86" name="Google Shape;86;p13"/>
          <p:cNvSpPr txBox="1"/>
          <p:nvPr>
            <p:ph idx="1" type="subTitle"/>
          </p:nvPr>
        </p:nvSpPr>
        <p:spPr>
          <a:xfrm>
            <a:off x="408225" y="3516075"/>
            <a:ext cx="4229100" cy="142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Georgia"/>
                <a:ea typeface="Georgia"/>
                <a:cs typeface="Georgia"/>
                <a:sym typeface="Georgia"/>
              </a:rPr>
              <a:t>Portfolio Case Study</a:t>
            </a:r>
            <a:endParaRPr>
              <a:latin typeface="Georgia"/>
              <a:ea typeface="Georgia"/>
              <a:cs typeface="Georgia"/>
              <a:sym typeface="Georgia"/>
            </a:endParaRPr>
          </a:p>
          <a:p>
            <a:pPr indent="0" lvl="0" marL="0" rtl="0" algn="l">
              <a:spcBef>
                <a:spcPts val="0"/>
              </a:spcBef>
              <a:spcAft>
                <a:spcPts val="0"/>
              </a:spcAft>
              <a:buNone/>
            </a:pPr>
            <a:r>
              <a:rPr lang="en-GB">
                <a:latin typeface="Georgia"/>
                <a:ea typeface="Georgia"/>
                <a:cs typeface="Georgia"/>
                <a:sym typeface="Georgia"/>
              </a:rPr>
              <a:t>Prepared By: Joy Lorna</a:t>
            </a:r>
            <a:endParaRPr>
              <a:latin typeface="Georgia"/>
              <a:ea typeface="Georgia"/>
              <a:cs typeface="Georgia"/>
              <a:sym typeface="Georgia"/>
            </a:endParaRPr>
          </a:p>
          <a:p>
            <a:pPr indent="0" lvl="0" marL="0" rtl="0" algn="l">
              <a:spcBef>
                <a:spcPts val="0"/>
              </a:spcBef>
              <a:spcAft>
                <a:spcPts val="0"/>
              </a:spcAft>
              <a:buNone/>
            </a:pPr>
            <a:r>
              <a:rPr lang="en-GB">
                <a:latin typeface="Georgia"/>
                <a:ea typeface="Georgia"/>
                <a:cs typeface="Georgia"/>
                <a:sym typeface="Georgia"/>
              </a:rPr>
              <a:t>Date: January 22, 2026</a:t>
            </a:r>
            <a:endParaRPr>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85"/>
                                        </p:tgtEl>
                                        <p:attrNameLst>
                                          <p:attrName>style.visibility</p:attrName>
                                        </p:attrNameLst>
                                      </p:cBhvr>
                                      <p:to>
                                        <p:strVal val="visible"/>
                                      </p:to>
                                    </p:set>
                                    <p:anim calcmode="lin" valueType="num">
                                      <p:cBhvr additive="base">
                                        <p:cTn dur="1000"/>
                                        <p:tgtEl>
                                          <p:spTgt spid="85"/>
                                        </p:tgtEl>
                                        <p:attrNameLst>
                                          <p:attrName>ppt_w</p:attrName>
                                        </p:attrNameLst>
                                      </p:cBhvr>
                                      <p:tavLst>
                                        <p:tav fmla="" tm="0">
                                          <p:val>
                                            <p:strVal val="0"/>
                                          </p:val>
                                        </p:tav>
                                        <p:tav fmla="" tm="100000">
                                          <p:val>
                                            <p:strVal val="#ppt_w"/>
                                          </p:val>
                                        </p:tav>
                                      </p:tavLst>
                                    </p:anim>
                                    <p:anim calcmode="lin" valueType="num">
                                      <p:cBhvr additive="base">
                                        <p:cTn dur="1000"/>
                                        <p:tgtEl>
                                          <p:spTgt spid="85"/>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114300" y="119750"/>
            <a:ext cx="8931600" cy="898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Georgia"/>
                <a:ea typeface="Georgia"/>
                <a:cs typeface="Georgia"/>
                <a:sym typeface="Georgia"/>
              </a:rPr>
              <a:t>Closing the Gap: A Data-Driven Roadmap for GenTech Retention</a:t>
            </a:r>
            <a:endParaRPr>
              <a:latin typeface="Georgia"/>
              <a:ea typeface="Georgia"/>
              <a:cs typeface="Georgia"/>
              <a:sym typeface="Georgia"/>
            </a:endParaRPr>
          </a:p>
        </p:txBody>
      </p:sp>
      <p:sp>
        <p:nvSpPr>
          <p:cNvPr id="92" name="Google Shape;92;p14"/>
          <p:cNvSpPr txBox="1"/>
          <p:nvPr>
            <p:ph idx="1" type="body"/>
          </p:nvPr>
        </p:nvSpPr>
        <p:spPr>
          <a:xfrm>
            <a:off x="220350" y="1126800"/>
            <a:ext cx="8703300" cy="3760800"/>
          </a:xfrm>
          <a:prstGeom prst="rect">
            <a:avLst/>
          </a:prstGeom>
        </p:spPr>
        <p:txBody>
          <a:bodyPr anchorCtr="0" anchor="t" bIns="91425" lIns="91425" spcFirstLastPara="1" rIns="91425" wrap="square" tIns="91425">
            <a:noAutofit/>
          </a:bodyPr>
          <a:lstStyle/>
          <a:p>
            <a:pPr indent="0" lvl="0" marL="0" rtl="0" algn="just">
              <a:lnSpc>
                <a:spcPct val="150000"/>
              </a:lnSpc>
              <a:spcBef>
                <a:spcPts val="1200"/>
              </a:spcBef>
              <a:spcAft>
                <a:spcPts val="0"/>
              </a:spcAft>
              <a:buNone/>
            </a:pPr>
            <a:r>
              <a:rPr b="1" lang="en-GB" sz="1700">
                <a:solidFill>
                  <a:srgbClr val="1F1F1F"/>
                </a:solidFill>
                <a:latin typeface="Georgia"/>
                <a:ea typeface="Georgia"/>
                <a:cs typeface="Georgia"/>
                <a:sym typeface="Georgia"/>
              </a:rPr>
              <a:t>Client Background:</a:t>
            </a:r>
            <a:endParaRPr b="1" sz="1700">
              <a:solidFill>
                <a:srgbClr val="1F1F1F"/>
              </a:solidFill>
              <a:latin typeface="Georgia"/>
              <a:ea typeface="Georgia"/>
              <a:cs typeface="Georgia"/>
              <a:sym typeface="Georgia"/>
            </a:endParaRPr>
          </a:p>
          <a:p>
            <a:pPr indent="0" lvl="0" marL="0" rtl="0" algn="just">
              <a:lnSpc>
                <a:spcPct val="150000"/>
              </a:lnSpc>
              <a:spcBef>
                <a:spcPts val="0"/>
              </a:spcBef>
              <a:spcAft>
                <a:spcPts val="0"/>
              </a:spcAft>
              <a:buNone/>
            </a:pPr>
            <a:r>
              <a:rPr lang="en-GB" sz="1700">
                <a:solidFill>
                  <a:srgbClr val="1F1F1F"/>
                </a:solidFill>
                <a:latin typeface="Georgia"/>
                <a:ea typeface="Georgia"/>
                <a:cs typeface="Georgia"/>
                <a:sym typeface="Georgia"/>
              </a:rPr>
              <a:t>GenTech Solutions is a prominent technology firm known for its software development and IT services, currently grappling with employee retention issues characterized by a "leaky bucket" in its talent pipeline. Despite aggressive hiring practices, the company's 12-month retention rates are inconsistent. Leadership attributes this problem to an ineffective "one-size-fits-all" HR policy that does not cater to the diverse requirements of various generational groups, specifically the distinct needs of Gen Z developers compared to Baby Boomer project managers. This generational disparity is a key factor in the company's challenges regarding modern workforce solutions and employee retention. </a:t>
            </a:r>
            <a:endParaRPr sz="1700">
              <a:solidFill>
                <a:srgbClr val="1F1F1F"/>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idx="1" type="body"/>
          </p:nvPr>
        </p:nvSpPr>
        <p:spPr>
          <a:xfrm>
            <a:off x="196650" y="184850"/>
            <a:ext cx="8750700" cy="41802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GB" sz="1600">
                <a:solidFill>
                  <a:srgbClr val="1F1F1F"/>
                </a:solidFill>
                <a:latin typeface="Georgia"/>
                <a:ea typeface="Georgia"/>
                <a:cs typeface="Georgia"/>
                <a:sym typeface="Georgia"/>
              </a:rPr>
              <a:t>Primary Objective:</a:t>
            </a:r>
            <a:r>
              <a:rPr lang="en-GB" sz="1600">
                <a:solidFill>
                  <a:srgbClr val="1F1F1F"/>
                </a:solidFill>
                <a:latin typeface="Georgia"/>
                <a:ea typeface="Georgia"/>
                <a:cs typeface="Georgia"/>
                <a:sym typeface="Georgia"/>
              </a:rPr>
              <a:t> </a:t>
            </a:r>
            <a:endParaRPr sz="1600">
              <a:solidFill>
                <a:srgbClr val="1F1F1F"/>
              </a:solidFill>
              <a:latin typeface="Georgia"/>
              <a:ea typeface="Georgia"/>
              <a:cs typeface="Georgia"/>
              <a:sym typeface="Georgia"/>
            </a:endParaRPr>
          </a:p>
          <a:p>
            <a:pPr indent="0" lvl="0" marL="0" rtl="0" algn="just">
              <a:lnSpc>
                <a:spcPct val="150000"/>
              </a:lnSpc>
              <a:spcBef>
                <a:spcPts val="0"/>
              </a:spcBef>
              <a:spcAft>
                <a:spcPts val="0"/>
              </a:spcAft>
              <a:buNone/>
            </a:pPr>
            <a:r>
              <a:rPr lang="en-GB" sz="1600">
                <a:solidFill>
                  <a:srgbClr val="1F1F1F"/>
                </a:solidFill>
                <a:latin typeface="Georgia"/>
                <a:ea typeface="Georgia"/>
                <a:cs typeface="Georgia"/>
                <a:sym typeface="Georgia"/>
              </a:rPr>
              <a:t>To explore generational trends in employee performance, retention, and satisfaction to guide the development of targeted, data-driven HR strategies.</a:t>
            </a:r>
            <a:endParaRPr sz="1600">
              <a:solidFill>
                <a:srgbClr val="1F1F1F"/>
              </a:solidFill>
              <a:latin typeface="Georgia"/>
              <a:ea typeface="Georgia"/>
              <a:cs typeface="Georgia"/>
              <a:sym typeface="Georgia"/>
            </a:endParaRPr>
          </a:p>
          <a:p>
            <a:pPr indent="0" lvl="0" marL="0" rtl="0" algn="just">
              <a:lnSpc>
                <a:spcPct val="150000"/>
              </a:lnSpc>
              <a:spcBef>
                <a:spcPts val="0"/>
              </a:spcBef>
              <a:spcAft>
                <a:spcPts val="0"/>
              </a:spcAft>
              <a:buNone/>
            </a:pPr>
            <a:r>
              <a:t/>
            </a:r>
            <a:endParaRPr sz="1600">
              <a:solidFill>
                <a:srgbClr val="1F1F1F"/>
              </a:solidFill>
              <a:latin typeface="Georgia"/>
              <a:ea typeface="Georgia"/>
              <a:cs typeface="Georgia"/>
              <a:sym typeface="Georgia"/>
            </a:endParaRPr>
          </a:p>
          <a:p>
            <a:pPr indent="0" lvl="0" marL="0" rtl="0" algn="just">
              <a:lnSpc>
                <a:spcPct val="150000"/>
              </a:lnSpc>
              <a:spcBef>
                <a:spcPts val="0"/>
              </a:spcBef>
              <a:spcAft>
                <a:spcPts val="0"/>
              </a:spcAft>
              <a:buNone/>
            </a:pPr>
            <a:r>
              <a:rPr b="1" lang="en-GB" sz="1600">
                <a:solidFill>
                  <a:srgbClr val="1F1F1F"/>
                </a:solidFill>
                <a:latin typeface="Georgia"/>
                <a:ea typeface="Georgia"/>
                <a:cs typeface="Georgia"/>
                <a:sym typeface="Georgia"/>
              </a:rPr>
              <a:t>Target Audience:</a:t>
            </a:r>
            <a:endParaRPr b="1" sz="1600">
              <a:solidFill>
                <a:srgbClr val="1F1F1F"/>
              </a:solidFill>
              <a:latin typeface="Georgia"/>
              <a:ea typeface="Georgia"/>
              <a:cs typeface="Georgia"/>
              <a:sym typeface="Georgia"/>
            </a:endParaRPr>
          </a:p>
          <a:p>
            <a:pPr indent="0" lvl="0" marL="0" rtl="0" algn="just">
              <a:lnSpc>
                <a:spcPct val="150000"/>
              </a:lnSpc>
              <a:spcBef>
                <a:spcPts val="0"/>
              </a:spcBef>
              <a:spcAft>
                <a:spcPts val="0"/>
              </a:spcAft>
              <a:buNone/>
            </a:pPr>
            <a:r>
              <a:rPr lang="en-GB" sz="1600">
                <a:solidFill>
                  <a:srgbClr val="1F1F1F"/>
                </a:solidFill>
                <a:latin typeface="Georgia"/>
                <a:ea typeface="Georgia"/>
                <a:cs typeface="Georgia"/>
                <a:sym typeface="Georgia"/>
              </a:rPr>
              <a:t>HR Department and Executive Leadership Team.</a:t>
            </a:r>
            <a:endParaRPr sz="1600">
              <a:solidFill>
                <a:srgbClr val="1F1F1F"/>
              </a:solidFill>
              <a:latin typeface="Georgia"/>
              <a:ea typeface="Georgia"/>
              <a:cs typeface="Georgia"/>
              <a:sym typeface="Georgia"/>
            </a:endParaRPr>
          </a:p>
          <a:p>
            <a:pPr indent="0" lvl="0" marL="0" rtl="0" algn="just">
              <a:lnSpc>
                <a:spcPct val="150000"/>
              </a:lnSpc>
              <a:spcBef>
                <a:spcPts val="0"/>
              </a:spcBef>
              <a:spcAft>
                <a:spcPts val="0"/>
              </a:spcAft>
              <a:buNone/>
            </a:pPr>
            <a:r>
              <a:t/>
            </a:r>
            <a:endParaRPr sz="1600">
              <a:solidFill>
                <a:srgbClr val="1F1F1F"/>
              </a:solidFill>
              <a:latin typeface="Georgia"/>
              <a:ea typeface="Georgia"/>
              <a:cs typeface="Georgia"/>
              <a:sym typeface="Georgia"/>
            </a:endParaRPr>
          </a:p>
          <a:p>
            <a:pPr indent="0" lvl="0" marL="0" rtl="0" algn="just">
              <a:lnSpc>
                <a:spcPct val="150000"/>
              </a:lnSpc>
              <a:spcBef>
                <a:spcPts val="0"/>
              </a:spcBef>
              <a:spcAft>
                <a:spcPts val="0"/>
              </a:spcAft>
              <a:buNone/>
            </a:pPr>
            <a:r>
              <a:rPr b="1" lang="en-GB" sz="1600">
                <a:solidFill>
                  <a:srgbClr val="1F1F1F"/>
                </a:solidFill>
                <a:latin typeface="Georgia"/>
                <a:ea typeface="Georgia"/>
                <a:cs typeface="Georgia"/>
                <a:sym typeface="Georgia"/>
              </a:rPr>
              <a:t>Analysis Objectives:</a:t>
            </a:r>
            <a:endParaRPr b="1" sz="1600">
              <a:solidFill>
                <a:srgbClr val="1F1F1F"/>
              </a:solidFill>
              <a:latin typeface="Georgia"/>
              <a:ea typeface="Georgia"/>
              <a:cs typeface="Georgia"/>
              <a:sym typeface="Georgia"/>
            </a:endParaRPr>
          </a:p>
          <a:p>
            <a:pPr indent="-330200" lvl="0" marL="457200" rtl="0" algn="just">
              <a:lnSpc>
                <a:spcPct val="150000"/>
              </a:lnSpc>
              <a:spcBef>
                <a:spcPts val="1200"/>
              </a:spcBef>
              <a:spcAft>
                <a:spcPts val="0"/>
              </a:spcAft>
              <a:buClr>
                <a:srgbClr val="1F1F1F"/>
              </a:buClr>
              <a:buSzPts val="1600"/>
              <a:buFont typeface="Georgia"/>
              <a:buChar char="●"/>
            </a:pPr>
            <a:r>
              <a:rPr lang="en-GB" sz="1600">
                <a:solidFill>
                  <a:srgbClr val="1F1F1F"/>
                </a:solidFill>
                <a:latin typeface="Georgia"/>
                <a:ea typeface="Georgia"/>
                <a:cs typeface="Georgia"/>
                <a:sym typeface="Georgia"/>
              </a:rPr>
              <a:t>Analyze turnover employee tenure  across generational cohorts. </a:t>
            </a:r>
            <a:endParaRPr sz="1600">
              <a:solidFill>
                <a:srgbClr val="1F1F1F"/>
              </a:solidFill>
              <a:latin typeface="Georgia"/>
              <a:ea typeface="Georgia"/>
              <a:cs typeface="Georgia"/>
              <a:sym typeface="Georgia"/>
            </a:endParaRPr>
          </a:p>
          <a:p>
            <a:pPr indent="-330200" lvl="0" marL="457200" rtl="0" algn="just">
              <a:lnSpc>
                <a:spcPct val="150000"/>
              </a:lnSpc>
              <a:spcBef>
                <a:spcPts val="0"/>
              </a:spcBef>
              <a:spcAft>
                <a:spcPts val="0"/>
              </a:spcAft>
              <a:buClr>
                <a:srgbClr val="1F1F1F"/>
              </a:buClr>
              <a:buSzPts val="1600"/>
              <a:buFont typeface="Georgia"/>
              <a:buChar char="●"/>
            </a:pPr>
            <a:r>
              <a:rPr lang="en-GB" sz="1600">
                <a:solidFill>
                  <a:srgbClr val="1F1F1F"/>
                </a:solidFill>
                <a:latin typeface="Georgia"/>
                <a:ea typeface="Georgia"/>
                <a:cs typeface="Georgia"/>
                <a:sym typeface="Georgia"/>
              </a:rPr>
              <a:t>Identify key factors contributing to job satisfaction and attrition.</a:t>
            </a:r>
            <a:endParaRPr sz="1600">
              <a:solidFill>
                <a:srgbClr val="1F1F1F"/>
              </a:solidFill>
              <a:latin typeface="Georgia"/>
              <a:ea typeface="Georgia"/>
              <a:cs typeface="Georgia"/>
              <a:sym typeface="Georgia"/>
            </a:endParaRPr>
          </a:p>
          <a:p>
            <a:pPr indent="-330200" lvl="0" marL="457200" rtl="0" algn="just">
              <a:lnSpc>
                <a:spcPct val="150000"/>
              </a:lnSpc>
              <a:spcBef>
                <a:spcPts val="0"/>
              </a:spcBef>
              <a:spcAft>
                <a:spcPts val="0"/>
              </a:spcAft>
              <a:buClr>
                <a:srgbClr val="1F1F1F"/>
              </a:buClr>
              <a:buSzPts val="1600"/>
              <a:buFont typeface="Georgia"/>
              <a:buChar char="●"/>
            </a:pPr>
            <a:r>
              <a:rPr lang="en-GB" sz="1600">
                <a:solidFill>
                  <a:srgbClr val="1F1F1F"/>
                </a:solidFill>
                <a:latin typeface="Georgia"/>
                <a:ea typeface="Georgia"/>
                <a:cs typeface="Georgia"/>
                <a:sym typeface="Georgia"/>
              </a:rPr>
              <a:t>Provide actionable recommendations tailored to each generation.</a:t>
            </a:r>
            <a:endParaRPr sz="1600">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181075" y="671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Georgia"/>
                <a:ea typeface="Georgia"/>
                <a:cs typeface="Georgia"/>
                <a:sym typeface="Georgia"/>
              </a:rPr>
              <a:t>Executive Summary</a:t>
            </a:r>
            <a:endParaRPr>
              <a:latin typeface="Georgia"/>
              <a:ea typeface="Georgia"/>
              <a:cs typeface="Georgia"/>
              <a:sym typeface="Georgia"/>
            </a:endParaRPr>
          </a:p>
        </p:txBody>
      </p:sp>
      <p:sp>
        <p:nvSpPr>
          <p:cNvPr id="103" name="Google Shape;103;p16"/>
          <p:cNvSpPr txBox="1"/>
          <p:nvPr>
            <p:ph idx="1" type="body"/>
          </p:nvPr>
        </p:nvSpPr>
        <p:spPr>
          <a:xfrm>
            <a:off x="114300" y="674900"/>
            <a:ext cx="8850300" cy="4147500"/>
          </a:xfrm>
          <a:prstGeom prst="rect">
            <a:avLst/>
          </a:prstGeom>
        </p:spPr>
        <p:txBody>
          <a:bodyPr anchorCtr="0" anchor="t" bIns="91425" lIns="91425" spcFirstLastPara="1" rIns="91425" wrap="square" tIns="91425">
            <a:noAutofit/>
          </a:bodyPr>
          <a:lstStyle/>
          <a:p>
            <a:pPr indent="0" lvl="0" marL="0" rtl="0" algn="just">
              <a:lnSpc>
                <a:spcPct val="150000"/>
              </a:lnSpc>
              <a:spcBef>
                <a:spcPts val="600"/>
              </a:spcBef>
              <a:spcAft>
                <a:spcPts val="0"/>
              </a:spcAft>
              <a:buNone/>
            </a:pPr>
            <a:r>
              <a:rPr lang="en-GB" sz="1500">
                <a:solidFill>
                  <a:srgbClr val="000000"/>
                </a:solidFill>
                <a:latin typeface="Georgia"/>
                <a:ea typeface="Georgia"/>
                <a:cs typeface="Georgia"/>
                <a:sym typeface="Georgia"/>
              </a:rPr>
              <a:t>GenTech’s one-size-fits-all HR policy is failing our most vulnerable talent. In Software Engineering, Gen Z employees churn out at the 12-month mark despite heavy training investments. To plug this leak, we need a targeted, milestone-based retention strategy zeroing in on the 10–14 month window for technical and younger staff.</a:t>
            </a:r>
            <a:endParaRPr sz="1500">
              <a:solidFill>
                <a:srgbClr val="000000"/>
              </a:solidFill>
              <a:latin typeface="Georgia"/>
              <a:ea typeface="Georgia"/>
              <a:cs typeface="Georgia"/>
              <a:sym typeface="Georgia"/>
            </a:endParaRPr>
          </a:p>
          <a:p>
            <a:pPr indent="0" lvl="0" marL="0" rtl="0" algn="just">
              <a:lnSpc>
                <a:spcPct val="150000"/>
              </a:lnSpc>
              <a:spcBef>
                <a:spcPts val="1200"/>
              </a:spcBef>
              <a:spcAft>
                <a:spcPts val="0"/>
              </a:spcAft>
              <a:buNone/>
            </a:pPr>
            <a:r>
              <a:rPr lang="en-GB" sz="1500">
                <a:solidFill>
                  <a:srgbClr val="000000"/>
                </a:solidFill>
                <a:latin typeface="Georgia"/>
                <a:ea typeface="Georgia"/>
                <a:cs typeface="Georgia"/>
                <a:sym typeface="Georgia"/>
              </a:rPr>
              <a:t>Analysis uncovers a generational retention crisis: </a:t>
            </a:r>
            <a:endParaRPr sz="1500">
              <a:solidFill>
                <a:srgbClr val="000000"/>
              </a:solidFill>
              <a:latin typeface="Georgia"/>
              <a:ea typeface="Georgia"/>
              <a:cs typeface="Georgia"/>
              <a:sym typeface="Georgia"/>
            </a:endParaRPr>
          </a:p>
          <a:p>
            <a:pPr indent="-323850" lvl="0" marL="457200" rtl="0" algn="just">
              <a:lnSpc>
                <a:spcPct val="150000"/>
              </a:lnSpc>
              <a:spcBef>
                <a:spcPts val="1200"/>
              </a:spcBef>
              <a:spcAft>
                <a:spcPts val="0"/>
              </a:spcAft>
              <a:buClr>
                <a:srgbClr val="000000"/>
              </a:buClr>
              <a:buSzPts val="1500"/>
              <a:buFont typeface="Georgia"/>
              <a:buChar char="●"/>
            </a:pPr>
            <a:r>
              <a:rPr lang="en-GB" sz="1500">
                <a:solidFill>
                  <a:srgbClr val="000000"/>
                </a:solidFill>
                <a:latin typeface="Georgia"/>
                <a:ea typeface="Georgia"/>
                <a:cs typeface="Georgia"/>
                <a:sym typeface="Georgia"/>
              </a:rPr>
              <a:t>Baby Boomers and Gen X stick around longer, dominating leadership and admin roles, while Millennials and Gen Z bolt early—especially in the first year and technical/production teams. </a:t>
            </a:r>
            <a:endParaRPr sz="1500">
              <a:solidFill>
                <a:srgbClr val="000000"/>
              </a:solidFill>
              <a:latin typeface="Georgia"/>
              <a:ea typeface="Georgia"/>
              <a:cs typeface="Georgia"/>
              <a:sym typeface="Georgia"/>
            </a:endParaRPr>
          </a:p>
          <a:p>
            <a:pPr indent="-323850" lvl="0" marL="457200" rtl="0" algn="just">
              <a:lnSpc>
                <a:spcPct val="150000"/>
              </a:lnSpc>
              <a:spcBef>
                <a:spcPts val="0"/>
              </a:spcBef>
              <a:spcAft>
                <a:spcPts val="0"/>
              </a:spcAft>
              <a:buClr>
                <a:srgbClr val="000000"/>
              </a:buClr>
              <a:buSzPts val="1500"/>
              <a:buFont typeface="Georgia"/>
              <a:buChar char="●"/>
            </a:pPr>
            <a:r>
              <a:rPr lang="en-GB" sz="1500">
                <a:solidFill>
                  <a:srgbClr val="000000"/>
                </a:solidFill>
                <a:latin typeface="Georgia"/>
                <a:ea typeface="Georgia"/>
                <a:cs typeface="Georgia"/>
                <a:sym typeface="Georgia"/>
              </a:rPr>
              <a:t>Gender gaps are negligible in older groups but widen among the young, with women exiting sooner. Attrition hits low performers and stars alike, squandering top talent. </a:t>
            </a:r>
            <a:endParaRPr sz="1500">
              <a:solidFill>
                <a:srgbClr val="000000"/>
              </a:solidFill>
              <a:latin typeface="Georgia"/>
              <a:ea typeface="Georgia"/>
              <a:cs typeface="Georgia"/>
              <a:sym typeface="Georgia"/>
            </a:endParaRPr>
          </a:p>
          <a:p>
            <a:pPr indent="-323850" lvl="0" marL="457200" rtl="0" algn="just">
              <a:lnSpc>
                <a:spcPct val="150000"/>
              </a:lnSpc>
              <a:spcBef>
                <a:spcPts val="0"/>
              </a:spcBef>
              <a:spcAft>
                <a:spcPts val="0"/>
              </a:spcAft>
              <a:buClr>
                <a:srgbClr val="000000"/>
              </a:buClr>
              <a:buSzPts val="1500"/>
              <a:buFont typeface="Georgia"/>
              <a:buChar char="●"/>
            </a:pPr>
            <a:r>
              <a:rPr lang="en-GB" sz="1500">
                <a:solidFill>
                  <a:srgbClr val="000000"/>
                </a:solidFill>
                <a:latin typeface="Georgia"/>
                <a:ea typeface="Georgia"/>
                <a:cs typeface="Georgia"/>
                <a:sym typeface="Georgia"/>
              </a:rPr>
              <a:t>Uniform training spends yield no tenure gains for younger cohorts, demanding tailored engagement, career growth, and retention tactics for Gen Z and Millennials.</a:t>
            </a:r>
            <a:endParaRPr sz="1500">
              <a:solidFill>
                <a:srgbClr val="000000"/>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538175" y="112700"/>
            <a:ext cx="52428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Tenure by Generation</a:t>
            </a:r>
            <a:endParaRPr/>
          </a:p>
        </p:txBody>
      </p:sp>
      <p:sp>
        <p:nvSpPr>
          <p:cNvPr id="109" name="Google Shape;109;p17"/>
          <p:cNvSpPr txBox="1"/>
          <p:nvPr>
            <p:ph idx="1" type="body"/>
          </p:nvPr>
        </p:nvSpPr>
        <p:spPr>
          <a:xfrm>
            <a:off x="6107025" y="197725"/>
            <a:ext cx="2839500" cy="3693900"/>
          </a:xfrm>
          <a:prstGeom prst="rect">
            <a:avLst/>
          </a:prstGeom>
        </p:spPr>
        <p:txBody>
          <a:bodyPr anchorCtr="0" anchor="t" bIns="91425" lIns="91425" spcFirstLastPara="1" rIns="91425" wrap="square" tIns="91425">
            <a:noAutofit/>
          </a:bodyPr>
          <a:lstStyle/>
          <a:p>
            <a:pPr indent="0" lvl="0" marL="0" rtl="0" algn="just">
              <a:spcBef>
                <a:spcPts val="1200"/>
              </a:spcBef>
              <a:spcAft>
                <a:spcPts val="1200"/>
              </a:spcAft>
              <a:buNone/>
            </a:pPr>
            <a:r>
              <a:rPr lang="en-GB" sz="1600">
                <a:solidFill>
                  <a:srgbClr val="000000"/>
                </a:solidFill>
                <a:latin typeface="Georgia"/>
                <a:ea typeface="Georgia"/>
                <a:cs typeface="Georgia"/>
                <a:sym typeface="Georgia"/>
              </a:rPr>
              <a:t>Baby Boomers recorded the highest average tenure at </a:t>
            </a:r>
            <a:r>
              <a:rPr b="1" lang="en-GB" sz="1600">
                <a:solidFill>
                  <a:srgbClr val="000000"/>
                </a:solidFill>
                <a:latin typeface="Georgia"/>
                <a:ea typeface="Georgia"/>
                <a:cs typeface="Georgia"/>
                <a:sym typeface="Georgia"/>
              </a:rPr>
              <a:t>18.37 months</a:t>
            </a:r>
            <a:r>
              <a:rPr lang="en-GB" sz="1600">
                <a:solidFill>
                  <a:srgbClr val="000000"/>
                </a:solidFill>
                <a:latin typeface="Georgia"/>
                <a:ea typeface="Georgia"/>
                <a:cs typeface="Georgia"/>
                <a:sym typeface="Georgia"/>
              </a:rPr>
              <a:t>, with some remaining for up to </a:t>
            </a:r>
            <a:r>
              <a:rPr b="1" lang="en-GB" sz="1600">
                <a:solidFill>
                  <a:srgbClr val="000000"/>
                </a:solidFill>
                <a:latin typeface="Georgia"/>
                <a:ea typeface="Georgia"/>
                <a:cs typeface="Georgia"/>
                <a:sym typeface="Georgia"/>
              </a:rPr>
              <a:t>44.4 months</a:t>
            </a:r>
            <a:r>
              <a:rPr lang="en-GB" sz="1600">
                <a:solidFill>
                  <a:srgbClr val="000000"/>
                </a:solidFill>
                <a:latin typeface="Georgia"/>
                <a:ea typeface="Georgia"/>
                <a:cs typeface="Georgia"/>
                <a:sym typeface="Georgia"/>
              </a:rPr>
              <a:t>, while Gen X followed at </a:t>
            </a:r>
            <a:r>
              <a:rPr b="1" lang="en-GB" sz="1600">
                <a:solidFill>
                  <a:srgbClr val="000000"/>
                </a:solidFill>
                <a:latin typeface="Georgia"/>
                <a:ea typeface="Georgia"/>
                <a:cs typeface="Georgia"/>
                <a:sym typeface="Georgia"/>
              </a:rPr>
              <a:t>17.03 months</a:t>
            </a:r>
            <a:r>
              <a:rPr lang="en-GB" sz="1600">
                <a:solidFill>
                  <a:srgbClr val="000000"/>
                </a:solidFill>
                <a:latin typeface="Georgia"/>
                <a:ea typeface="Georgia"/>
                <a:cs typeface="Georgia"/>
                <a:sym typeface="Georgia"/>
              </a:rPr>
              <a:t>. Millennials averaged </a:t>
            </a:r>
            <a:r>
              <a:rPr b="1" lang="en-GB" sz="1600">
                <a:solidFill>
                  <a:srgbClr val="000000"/>
                </a:solidFill>
                <a:latin typeface="Georgia"/>
                <a:ea typeface="Georgia"/>
                <a:cs typeface="Georgia"/>
                <a:sym typeface="Georgia"/>
              </a:rPr>
              <a:t>15.74 months</a:t>
            </a:r>
            <a:r>
              <a:rPr lang="en-GB" sz="1600">
                <a:solidFill>
                  <a:srgbClr val="000000"/>
                </a:solidFill>
                <a:latin typeface="Georgia"/>
                <a:ea typeface="Georgia"/>
                <a:cs typeface="Georgia"/>
                <a:sym typeface="Georgia"/>
              </a:rPr>
              <a:t>, and Gen Z showed the shortest tenure at just </a:t>
            </a:r>
            <a:r>
              <a:rPr b="1" lang="en-GB" sz="1600">
                <a:solidFill>
                  <a:srgbClr val="000000"/>
                </a:solidFill>
                <a:latin typeface="Georgia"/>
                <a:ea typeface="Georgia"/>
                <a:cs typeface="Georgia"/>
                <a:sym typeface="Georgia"/>
              </a:rPr>
              <a:t>13.70 months</a:t>
            </a:r>
            <a:r>
              <a:rPr lang="en-GB" sz="1600">
                <a:solidFill>
                  <a:srgbClr val="000000"/>
                </a:solidFill>
                <a:latin typeface="Georgia"/>
                <a:ea typeface="Georgia"/>
                <a:cs typeface="Georgia"/>
                <a:sym typeface="Georgia"/>
              </a:rPr>
              <a:t>, highlighting faster departures from the organization, with certain individuals leaving after only </a:t>
            </a:r>
            <a:r>
              <a:rPr b="1" lang="en-GB" sz="1600">
                <a:solidFill>
                  <a:srgbClr val="000000"/>
                </a:solidFill>
                <a:latin typeface="Georgia"/>
                <a:ea typeface="Georgia"/>
                <a:cs typeface="Georgia"/>
                <a:sym typeface="Georgia"/>
              </a:rPr>
              <a:t>2 months</a:t>
            </a:r>
            <a:r>
              <a:rPr lang="en-GB" sz="1600">
                <a:solidFill>
                  <a:srgbClr val="000000"/>
                </a:solidFill>
                <a:latin typeface="Georgia"/>
                <a:ea typeface="Georgia"/>
                <a:cs typeface="Georgia"/>
                <a:sym typeface="Georgia"/>
              </a:rPr>
              <a:t>.</a:t>
            </a:r>
            <a:endParaRPr sz="1600">
              <a:latin typeface="Georgia"/>
              <a:ea typeface="Georgia"/>
              <a:cs typeface="Georgia"/>
              <a:sym typeface="Georgia"/>
            </a:endParaRPr>
          </a:p>
        </p:txBody>
      </p:sp>
      <p:pic>
        <p:nvPicPr>
          <p:cNvPr id="110" name="Google Shape;110;p17" title="Avg Generational Tenure"/>
          <p:cNvPicPr preferRelativeResize="0"/>
          <p:nvPr/>
        </p:nvPicPr>
        <p:blipFill>
          <a:blip r:embed="rId3">
            <a:alphaModFix/>
          </a:blip>
          <a:stretch>
            <a:fillRect/>
          </a:stretch>
        </p:blipFill>
        <p:spPr>
          <a:xfrm>
            <a:off x="130625" y="805525"/>
            <a:ext cx="5976400" cy="4033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10"/>
                                        </p:tgtEl>
                                        <p:attrNameLst>
                                          <p:attrName>style.visibility</p:attrName>
                                        </p:attrNameLst>
                                      </p:cBhvr>
                                      <p:to>
                                        <p:strVal val="visible"/>
                                      </p:to>
                                    </p:set>
                                    <p:anim calcmode="lin" valueType="num">
                                      <p:cBhvr additive="base">
                                        <p:cTn dur="1000"/>
                                        <p:tgtEl>
                                          <p:spTgt spid="11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518000" y="244975"/>
            <a:ext cx="28239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Tenure Buckets</a:t>
            </a:r>
            <a:endParaRPr/>
          </a:p>
        </p:txBody>
      </p:sp>
      <p:sp>
        <p:nvSpPr>
          <p:cNvPr id="116" name="Google Shape;116;p18"/>
          <p:cNvSpPr txBox="1"/>
          <p:nvPr>
            <p:ph idx="1" type="body"/>
          </p:nvPr>
        </p:nvSpPr>
        <p:spPr>
          <a:xfrm>
            <a:off x="0" y="921425"/>
            <a:ext cx="4125900" cy="39519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1200"/>
              </a:spcAft>
              <a:buSzPts val="935"/>
              <a:buNone/>
            </a:pPr>
            <a:r>
              <a:rPr lang="en-GB" sz="1629">
                <a:latin typeface="Georgia"/>
                <a:ea typeface="Georgia"/>
                <a:cs typeface="Georgia"/>
                <a:sym typeface="Georgia"/>
              </a:rPr>
              <a:t>The findings indicate that </a:t>
            </a:r>
            <a:r>
              <a:rPr b="1" lang="en-GB" sz="1629">
                <a:latin typeface="Georgia"/>
                <a:ea typeface="Georgia"/>
                <a:cs typeface="Georgia"/>
                <a:sym typeface="Georgia"/>
              </a:rPr>
              <a:t>Gen Z</a:t>
            </a:r>
            <a:r>
              <a:rPr lang="en-GB" sz="1629">
                <a:latin typeface="Georgia"/>
                <a:ea typeface="Georgia"/>
                <a:cs typeface="Georgia"/>
                <a:sym typeface="Georgia"/>
              </a:rPr>
              <a:t> has the </a:t>
            </a:r>
            <a:r>
              <a:rPr b="1" lang="en-GB" sz="1629">
                <a:latin typeface="Georgia"/>
                <a:ea typeface="Georgia"/>
                <a:cs typeface="Georgia"/>
                <a:sym typeface="Georgia"/>
              </a:rPr>
              <a:t>highest number</a:t>
            </a:r>
            <a:r>
              <a:rPr lang="en-GB" sz="1629">
                <a:latin typeface="Georgia"/>
                <a:ea typeface="Georgia"/>
                <a:cs typeface="Georgia"/>
                <a:sym typeface="Georgia"/>
              </a:rPr>
              <a:t> of "</a:t>
            </a:r>
            <a:r>
              <a:rPr b="1" lang="en-GB" sz="1629">
                <a:latin typeface="Georgia"/>
                <a:ea typeface="Georgia"/>
                <a:cs typeface="Georgia"/>
                <a:sym typeface="Georgia"/>
              </a:rPr>
              <a:t>Leaky Bucket</a:t>
            </a:r>
            <a:r>
              <a:rPr lang="en-GB" sz="1629">
                <a:latin typeface="Georgia"/>
                <a:ea typeface="Georgia"/>
                <a:cs typeface="Georgia"/>
                <a:sym typeface="Georgia"/>
              </a:rPr>
              <a:t>" exits at </a:t>
            </a:r>
            <a:r>
              <a:rPr b="1" lang="en-GB" sz="1629">
                <a:latin typeface="Georgia"/>
                <a:ea typeface="Georgia"/>
                <a:cs typeface="Georgia"/>
                <a:sym typeface="Georgia"/>
              </a:rPr>
              <a:t>214</a:t>
            </a:r>
            <a:r>
              <a:rPr lang="en-GB" sz="1629">
                <a:latin typeface="Georgia"/>
                <a:ea typeface="Georgia"/>
                <a:cs typeface="Georgia"/>
                <a:sym typeface="Georgia"/>
              </a:rPr>
              <a:t> employees, suggesting difficulties in retaining this demographic beyond their first year. </a:t>
            </a:r>
            <a:r>
              <a:rPr b="1" lang="en-GB" sz="1629">
                <a:latin typeface="Georgia"/>
                <a:ea typeface="Georgia"/>
                <a:cs typeface="Georgia"/>
                <a:sym typeface="Georgia"/>
              </a:rPr>
              <a:t>Millennials</a:t>
            </a:r>
            <a:r>
              <a:rPr lang="en-GB" sz="1629">
                <a:latin typeface="Georgia"/>
                <a:ea typeface="Georgia"/>
                <a:cs typeface="Georgia"/>
                <a:sym typeface="Georgia"/>
              </a:rPr>
              <a:t>, however, account for the overall </a:t>
            </a:r>
            <a:r>
              <a:rPr b="1" lang="en-GB" sz="1629">
                <a:latin typeface="Georgia"/>
                <a:ea typeface="Georgia"/>
                <a:cs typeface="Georgia"/>
                <a:sym typeface="Georgia"/>
              </a:rPr>
              <a:t>largest volume</a:t>
            </a:r>
            <a:r>
              <a:rPr lang="en-GB" sz="1629">
                <a:latin typeface="Georgia"/>
                <a:ea typeface="Georgia"/>
                <a:cs typeface="Georgia"/>
                <a:sym typeface="Georgia"/>
              </a:rPr>
              <a:t> of exits at </a:t>
            </a:r>
            <a:r>
              <a:rPr b="1" lang="en-GB" sz="1629">
                <a:latin typeface="Georgia"/>
                <a:ea typeface="Georgia"/>
                <a:cs typeface="Georgia"/>
                <a:sym typeface="Georgia"/>
              </a:rPr>
              <a:t>582</a:t>
            </a:r>
            <a:r>
              <a:rPr lang="en-GB" sz="1629">
                <a:latin typeface="Georgia"/>
                <a:ea typeface="Georgia"/>
                <a:cs typeface="Georgia"/>
                <a:sym typeface="Georgia"/>
              </a:rPr>
              <a:t>, revealing a trend where </a:t>
            </a:r>
            <a:r>
              <a:rPr b="1" lang="en-GB" sz="1629">
                <a:latin typeface="Georgia"/>
                <a:ea typeface="Georgia"/>
                <a:cs typeface="Georgia"/>
                <a:sym typeface="Georgia"/>
              </a:rPr>
              <a:t>younger</a:t>
            </a:r>
            <a:r>
              <a:rPr lang="en-GB" sz="1629">
                <a:latin typeface="Georgia"/>
                <a:ea typeface="Georgia"/>
                <a:cs typeface="Georgia"/>
                <a:sym typeface="Georgia"/>
              </a:rPr>
              <a:t> generations </a:t>
            </a:r>
            <a:r>
              <a:rPr b="1" lang="en-GB" sz="1629">
                <a:latin typeface="Georgia"/>
                <a:ea typeface="Georgia"/>
                <a:cs typeface="Georgia"/>
                <a:sym typeface="Georgia"/>
              </a:rPr>
              <a:t>leave earlier</a:t>
            </a:r>
            <a:r>
              <a:rPr lang="en-GB" sz="1629">
                <a:latin typeface="Georgia"/>
                <a:ea typeface="Georgia"/>
                <a:cs typeface="Georgia"/>
                <a:sym typeface="Georgia"/>
              </a:rPr>
              <a:t> in their employment. A total of </a:t>
            </a:r>
            <a:r>
              <a:rPr b="1" lang="en-GB" sz="1629">
                <a:latin typeface="Georgia"/>
                <a:ea typeface="Georgia"/>
                <a:cs typeface="Georgia"/>
                <a:sym typeface="Georgia"/>
              </a:rPr>
              <a:t>286 Gen Z</a:t>
            </a:r>
            <a:r>
              <a:rPr lang="en-GB" sz="1629">
                <a:latin typeface="Georgia"/>
                <a:ea typeface="Georgia"/>
                <a:cs typeface="Georgia"/>
                <a:sym typeface="Georgia"/>
              </a:rPr>
              <a:t> and </a:t>
            </a:r>
            <a:r>
              <a:rPr b="1" lang="en-GB" sz="1629">
                <a:latin typeface="Georgia"/>
                <a:ea typeface="Georgia"/>
                <a:cs typeface="Georgia"/>
                <a:sym typeface="Georgia"/>
              </a:rPr>
              <a:t>Millennial</a:t>
            </a:r>
            <a:r>
              <a:rPr lang="en-GB" sz="1629">
                <a:latin typeface="Georgia"/>
                <a:ea typeface="Georgia"/>
                <a:cs typeface="Georgia"/>
                <a:sym typeface="Georgia"/>
              </a:rPr>
              <a:t> employees exited within the </a:t>
            </a:r>
            <a:r>
              <a:rPr b="1" lang="en-GB" sz="1629">
                <a:latin typeface="Georgia"/>
                <a:ea typeface="Georgia"/>
                <a:cs typeface="Georgia"/>
                <a:sym typeface="Georgia"/>
              </a:rPr>
              <a:t>first year</a:t>
            </a:r>
            <a:r>
              <a:rPr lang="en-GB" sz="1629">
                <a:latin typeface="Georgia"/>
                <a:ea typeface="Georgia"/>
                <a:cs typeface="Georgia"/>
                <a:sym typeface="Georgia"/>
              </a:rPr>
              <a:t>, contrasting with Baby Boomers and Gen X, who exhibit better long-term retention, indicating a generational gap in early career retention.</a:t>
            </a:r>
            <a:endParaRPr sz="1629">
              <a:latin typeface="Georgia"/>
              <a:ea typeface="Georgia"/>
              <a:cs typeface="Georgia"/>
              <a:sym typeface="Georgia"/>
            </a:endParaRPr>
          </a:p>
        </p:txBody>
      </p:sp>
      <p:pic>
        <p:nvPicPr>
          <p:cNvPr id="117" name="Google Shape;117;p18" title="Generational Tenure Bucket"/>
          <p:cNvPicPr preferRelativeResize="0"/>
          <p:nvPr/>
        </p:nvPicPr>
        <p:blipFill>
          <a:blip r:embed="rId3">
            <a:alphaModFix/>
          </a:blip>
          <a:stretch>
            <a:fillRect/>
          </a:stretch>
        </p:blipFill>
        <p:spPr>
          <a:xfrm>
            <a:off x="4194150" y="155875"/>
            <a:ext cx="4881075" cy="3754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17"/>
                                        </p:tgtEl>
                                        <p:attrNameLst>
                                          <p:attrName>style.visibility</p:attrName>
                                        </p:attrNameLst>
                                      </p:cBhvr>
                                      <p:to>
                                        <p:strVal val="visible"/>
                                      </p:to>
                                    </p:set>
                                    <p:anim calcmode="lin" valueType="num">
                                      <p:cBhvr additive="base">
                                        <p:cTn dur="1000"/>
                                        <p:tgtEl>
                                          <p:spTgt spid="11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64150" y="162450"/>
            <a:ext cx="46944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Departmental "Danger Zones"</a:t>
            </a:r>
            <a:endParaRPr/>
          </a:p>
        </p:txBody>
      </p:sp>
      <p:sp>
        <p:nvSpPr>
          <p:cNvPr id="123" name="Google Shape;123;p19"/>
          <p:cNvSpPr txBox="1"/>
          <p:nvPr>
            <p:ph idx="1" type="body"/>
          </p:nvPr>
        </p:nvSpPr>
        <p:spPr>
          <a:xfrm>
            <a:off x="64150" y="692225"/>
            <a:ext cx="4694400" cy="42219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lang="en-GB" sz="1600">
                <a:solidFill>
                  <a:srgbClr val="1F1F1F"/>
                </a:solidFill>
                <a:latin typeface="Georgia"/>
                <a:ea typeface="Georgia"/>
                <a:cs typeface="Georgia"/>
                <a:sym typeface="Georgia"/>
              </a:rPr>
              <a:t>Baby Boomers have the longest tenures in Administrative (</a:t>
            </a:r>
            <a:r>
              <a:rPr b="1" lang="en-GB" sz="1600">
                <a:solidFill>
                  <a:srgbClr val="1F1F1F"/>
                </a:solidFill>
                <a:latin typeface="Georgia"/>
                <a:ea typeface="Georgia"/>
                <a:cs typeface="Georgia"/>
                <a:sym typeface="Georgia"/>
              </a:rPr>
              <a:t>28.82 months</a:t>
            </a:r>
            <a:r>
              <a:rPr lang="en-GB" sz="1600">
                <a:solidFill>
                  <a:srgbClr val="1F1F1F"/>
                </a:solidFill>
                <a:latin typeface="Georgia"/>
                <a:ea typeface="Georgia"/>
                <a:cs typeface="Georgia"/>
                <a:sym typeface="Georgia"/>
              </a:rPr>
              <a:t>) and Executive Offices (</a:t>
            </a:r>
            <a:r>
              <a:rPr b="1" lang="en-GB" sz="1600">
                <a:solidFill>
                  <a:srgbClr val="1F1F1F"/>
                </a:solidFill>
                <a:latin typeface="Georgia"/>
                <a:ea typeface="Georgia"/>
                <a:cs typeface="Georgia"/>
                <a:sym typeface="Georgia"/>
              </a:rPr>
              <a:t>27.77 months</a:t>
            </a:r>
            <a:r>
              <a:rPr lang="en-GB" sz="1600">
                <a:solidFill>
                  <a:srgbClr val="1F1F1F"/>
                </a:solidFill>
                <a:latin typeface="Georgia"/>
                <a:ea typeface="Georgia"/>
                <a:cs typeface="Georgia"/>
                <a:sym typeface="Georgia"/>
              </a:rPr>
              <a:t>), while their tenure in Sales is shorter (</a:t>
            </a:r>
            <a:r>
              <a:rPr b="1" lang="en-GB" sz="1600">
                <a:solidFill>
                  <a:srgbClr val="1F1F1F"/>
                </a:solidFill>
                <a:latin typeface="Georgia"/>
                <a:ea typeface="Georgia"/>
                <a:cs typeface="Georgia"/>
                <a:sym typeface="Georgia"/>
              </a:rPr>
              <a:t>15.68 months</a:t>
            </a:r>
            <a:r>
              <a:rPr lang="en-GB" sz="1600">
                <a:solidFill>
                  <a:srgbClr val="1F1F1F"/>
                </a:solidFill>
                <a:latin typeface="Georgia"/>
                <a:ea typeface="Georgia"/>
                <a:cs typeface="Georgia"/>
                <a:sym typeface="Georgia"/>
              </a:rPr>
              <a:t>). Gen X averages </a:t>
            </a:r>
            <a:r>
              <a:rPr b="1" lang="en-GB" sz="1600">
                <a:solidFill>
                  <a:srgbClr val="1F1F1F"/>
                </a:solidFill>
                <a:latin typeface="Georgia"/>
                <a:ea typeface="Georgia"/>
                <a:cs typeface="Georgia"/>
                <a:sym typeface="Georgia"/>
              </a:rPr>
              <a:t>17–18 months</a:t>
            </a:r>
            <a:r>
              <a:rPr lang="en-GB" sz="1600">
                <a:solidFill>
                  <a:srgbClr val="1F1F1F"/>
                </a:solidFill>
                <a:latin typeface="Georgia"/>
                <a:ea typeface="Georgia"/>
                <a:cs typeface="Georgia"/>
                <a:sym typeface="Georgia"/>
              </a:rPr>
              <a:t>, favoring Executive and Software Engineering roles. </a:t>
            </a:r>
            <a:r>
              <a:rPr b="1" lang="en-GB" sz="1600">
                <a:solidFill>
                  <a:srgbClr val="1F1F1F"/>
                </a:solidFill>
                <a:latin typeface="Georgia"/>
                <a:ea typeface="Georgia"/>
                <a:cs typeface="Georgia"/>
                <a:sym typeface="Georgia"/>
              </a:rPr>
              <a:t>Gen Z has the shortest tenures</a:t>
            </a:r>
            <a:r>
              <a:rPr lang="en-GB" sz="1600">
                <a:solidFill>
                  <a:srgbClr val="1F1F1F"/>
                </a:solidFill>
                <a:latin typeface="Georgia"/>
                <a:ea typeface="Georgia"/>
                <a:cs typeface="Georgia"/>
                <a:sym typeface="Georgia"/>
              </a:rPr>
              <a:t>, particularly in Software Engineering (</a:t>
            </a:r>
            <a:r>
              <a:rPr b="1" lang="en-GB" sz="1600">
                <a:solidFill>
                  <a:srgbClr val="1F1F1F"/>
                </a:solidFill>
                <a:latin typeface="Georgia"/>
                <a:ea typeface="Georgia"/>
                <a:cs typeface="Georgia"/>
                <a:sym typeface="Georgia"/>
              </a:rPr>
              <a:t>12.00 months</a:t>
            </a:r>
            <a:r>
              <a:rPr lang="en-GB" sz="1600">
                <a:solidFill>
                  <a:srgbClr val="1F1F1F"/>
                </a:solidFill>
                <a:latin typeface="Georgia"/>
                <a:ea typeface="Georgia"/>
                <a:cs typeface="Georgia"/>
                <a:sym typeface="Georgia"/>
              </a:rPr>
              <a:t>) and Production (</a:t>
            </a:r>
            <a:r>
              <a:rPr b="1" lang="en-GB" sz="1600">
                <a:solidFill>
                  <a:srgbClr val="1F1F1F"/>
                </a:solidFill>
                <a:latin typeface="Georgia"/>
                <a:ea typeface="Georgia"/>
                <a:cs typeface="Georgia"/>
                <a:sym typeface="Georgia"/>
              </a:rPr>
              <a:t>13.61 months</a:t>
            </a:r>
            <a:r>
              <a:rPr lang="en-GB" sz="1600">
                <a:solidFill>
                  <a:srgbClr val="1F1F1F"/>
                </a:solidFill>
                <a:latin typeface="Georgia"/>
                <a:ea typeface="Georgia"/>
                <a:cs typeface="Georgia"/>
                <a:sym typeface="Georgia"/>
              </a:rPr>
              <a:t>), suggesting quick exits. Millennials peak in Executive Office tenure (</a:t>
            </a:r>
            <a:r>
              <a:rPr b="1" lang="en-GB" sz="1600">
                <a:solidFill>
                  <a:srgbClr val="1F1F1F"/>
                </a:solidFill>
                <a:latin typeface="Georgia"/>
                <a:ea typeface="Georgia"/>
                <a:cs typeface="Georgia"/>
                <a:sym typeface="Georgia"/>
              </a:rPr>
              <a:t>17.37 months</a:t>
            </a:r>
            <a:r>
              <a:rPr lang="en-GB" sz="1600">
                <a:solidFill>
                  <a:srgbClr val="1F1F1F"/>
                </a:solidFill>
                <a:latin typeface="Georgia"/>
                <a:ea typeface="Georgia"/>
                <a:cs typeface="Georgia"/>
                <a:sym typeface="Georgia"/>
              </a:rPr>
              <a:t>) but see declines in Sales (</a:t>
            </a:r>
            <a:r>
              <a:rPr b="1" lang="en-GB" sz="1600">
                <a:solidFill>
                  <a:srgbClr val="1F1F1F"/>
                </a:solidFill>
                <a:latin typeface="Georgia"/>
                <a:ea typeface="Georgia"/>
                <a:cs typeface="Georgia"/>
                <a:sym typeface="Georgia"/>
              </a:rPr>
              <a:t>14.72 months</a:t>
            </a:r>
            <a:r>
              <a:rPr lang="en-GB" sz="1600">
                <a:solidFill>
                  <a:srgbClr val="1F1F1F"/>
                </a:solidFill>
                <a:latin typeface="Georgia"/>
                <a:ea typeface="Georgia"/>
                <a:cs typeface="Georgia"/>
                <a:sym typeface="Georgia"/>
              </a:rPr>
              <a:t>). </a:t>
            </a:r>
            <a:r>
              <a:rPr b="1" lang="en-GB" sz="1600">
                <a:solidFill>
                  <a:srgbClr val="1F1F1F"/>
                </a:solidFill>
                <a:latin typeface="Georgia"/>
                <a:ea typeface="Georgia"/>
                <a:cs typeface="Georgia"/>
                <a:sym typeface="Georgia"/>
              </a:rPr>
              <a:t>Older generations stay longer in administrative roles</a:t>
            </a:r>
            <a:r>
              <a:rPr lang="en-GB" sz="1600">
                <a:solidFill>
                  <a:srgbClr val="1F1F1F"/>
                </a:solidFill>
                <a:latin typeface="Georgia"/>
                <a:ea typeface="Georgia"/>
                <a:cs typeface="Georgia"/>
                <a:sym typeface="Georgia"/>
              </a:rPr>
              <a:t>, while </a:t>
            </a:r>
            <a:r>
              <a:rPr b="1" lang="en-GB" sz="1600">
                <a:solidFill>
                  <a:srgbClr val="1F1F1F"/>
                </a:solidFill>
                <a:latin typeface="Georgia"/>
                <a:ea typeface="Georgia"/>
                <a:cs typeface="Georgia"/>
                <a:sym typeface="Georgia"/>
              </a:rPr>
              <a:t>younger cohorts exhibit early departures</a:t>
            </a:r>
            <a:r>
              <a:rPr lang="en-GB" sz="1600">
                <a:solidFill>
                  <a:srgbClr val="1F1F1F"/>
                </a:solidFill>
                <a:latin typeface="Georgia"/>
                <a:ea typeface="Georgia"/>
                <a:cs typeface="Georgia"/>
                <a:sym typeface="Georgia"/>
              </a:rPr>
              <a:t>, emphasizing a need for better retention strategies. Low turnover rates for Gen Z in Software Engineering contrast with high turnover in Sales across all generations.</a:t>
            </a:r>
            <a:endParaRPr sz="1600">
              <a:latin typeface="Georgia"/>
              <a:ea typeface="Georgia"/>
              <a:cs typeface="Georgia"/>
              <a:sym typeface="Georgia"/>
            </a:endParaRPr>
          </a:p>
        </p:txBody>
      </p:sp>
      <p:pic>
        <p:nvPicPr>
          <p:cNvPr id="124" name="Google Shape;124;p19" title="Avg Employee Tenure by Generation and Department"/>
          <p:cNvPicPr preferRelativeResize="0"/>
          <p:nvPr/>
        </p:nvPicPr>
        <p:blipFill>
          <a:blip r:embed="rId3">
            <a:alphaModFix/>
          </a:blip>
          <a:stretch>
            <a:fillRect/>
          </a:stretch>
        </p:blipFill>
        <p:spPr>
          <a:xfrm rot="5400000">
            <a:off x="4583550" y="338550"/>
            <a:ext cx="4874375" cy="42495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1000"/>
                                        <p:tgtEl>
                                          <p:spTgt spid="124"/>
                                        </p:tgtEl>
                                        <p:attrNameLst>
                                          <p:attrName>ppt_w</p:attrName>
                                        </p:attrNameLst>
                                      </p:cBhvr>
                                      <p:tavLst>
                                        <p:tav fmla="" tm="0">
                                          <p:val>
                                            <p:strVal val="0"/>
                                          </p:val>
                                        </p:tav>
                                        <p:tav fmla="" tm="100000">
                                          <p:val>
                                            <p:strVal val="#ppt_w"/>
                                          </p:val>
                                        </p:tav>
                                      </p:tavLst>
                                    </p:anim>
                                    <p:anim calcmode="lin" valueType="num">
                                      <p:cBhvr additive="base">
                                        <p:cTn dur="1000"/>
                                        <p:tgtEl>
                                          <p:spTgt spid="12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311700" y="1899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Tenure by Gender, Performance and Satisfaction</a:t>
            </a:r>
            <a:endParaRPr/>
          </a:p>
        </p:txBody>
      </p:sp>
      <p:sp>
        <p:nvSpPr>
          <p:cNvPr id="130" name="Google Shape;130;p20"/>
          <p:cNvSpPr txBox="1"/>
          <p:nvPr>
            <p:ph idx="1" type="body"/>
          </p:nvPr>
        </p:nvSpPr>
        <p:spPr>
          <a:xfrm>
            <a:off x="151275" y="898500"/>
            <a:ext cx="8870400" cy="40020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Font typeface="Georgia"/>
              <a:buChar char="●"/>
            </a:pPr>
            <a:r>
              <a:rPr lang="en-GB">
                <a:latin typeface="Georgia"/>
                <a:ea typeface="Georgia"/>
                <a:cs typeface="Georgia"/>
                <a:sym typeface="Georgia"/>
              </a:rPr>
              <a:t>In </a:t>
            </a:r>
            <a:r>
              <a:rPr b="1" lang="en-GB">
                <a:latin typeface="Georgia"/>
                <a:ea typeface="Georgia"/>
                <a:cs typeface="Georgia"/>
                <a:sym typeface="Georgia"/>
              </a:rPr>
              <a:t>older generations</a:t>
            </a:r>
            <a:r>
              <a:rPr lang="en-GB">
                <a:latin typeface="Georgia"/>
                <a:ea typeface="Georgia"/>
                <a:cs typeface="Georgia"/>
                <a:sym typeface="Georgia"/>
              </a:rPr>
              <a:t>, tenure is </a:t>
            </a:r>
            <a:r>
              <a:rPr b="1" lang="en-GB">
                <a:latin typeface="Georgia"/>
                <a:ea typeface="Georgia"/>
                <a:cs typeface="Georgia"/>
                <a:sym typeface="Georgia"/>
              </a:rPr>
              <a:t>balanced across genders</a:t>
            </a:r>
            <a:r>
              <a:rPr lang="en-GB">
                <a:latin typeface="Georgia"/>
                <a:ea typeface="Georgia"/>
                <a:cs typeface="Georgia"/>
                <a:sym typeface="Georgia"/>
              </a:rPr>
              <a:t>, but in </a:t>
            </a:r>
            <a:r>
              <a:rPr b="1" lang="en-GB">
                <a:latin typeface="Georgia"/>
                <a:ea typeface="Georgia"/>
                <a:cs typeface="Georgia"/>
                <a:sym typeface="Georgia"/>
              </a:rPr>
              <a:t>younger cohorts</a:t>
            </a:r>
            <a:r>
              <a:rPr lang="en-GB">
                <a:latin typeface="Georgia"/>
                <a:ea typeface="Georgia"/>
                <a:cs typeface="Georgia"/>
                <a:sym typeface="Georgia"/>
              </a:rPr>
              <a:t>, </a:t>
            </a:r>
            <a:r>
              <a:rPr b="1" lang="en-GB">
                <a:latin typeface="Georgia"/>
                <a:ea typeface="Georgia"/>
                <a:cs typeface="Georgia"/>
                <a:sym typeface="Georgia"/>
              </a:rPr>
              <a:t>males</a:t>
            </a:r>
            <a:r>
              <a:rPr lang="en-GB">
                <a:latin typeface="Georgia"/>
                <a:ea typeface="Georgia"/>
                <a:cs typeface="Georgia"/>
                <a:sym typeface="Georgia"/>
              </a:rPr>
              <a:t> have a </a:t>
            </a:r>
            <a:r>
              <a:rPr b="1" lang="en-GB">
                <a:latin typeface="Georgia"/>
                <a:ea typeface="Georgia"/>
                <a:cs typeface="Georgia"/>
                <a:sym typeface="Georgia"/>
              </a:rPr>
              <a:t>longer average tenure</a:t>
            </a:r>
            <a:r>
              <a:rPr lang="en-GB">
                <a:latin typeface="Georgia"/>
                <a:ea typeface="Georgia"/>
                <a:cs typeface="Georgia"/>
                <a:sym typeface="Georgia"/>
              </a:rPr>
              <a:t> than </a:t>
            </a:r>
            <a:r>
              <a:rPr b="1" lang="en-GB">
                <a:latin typeface="Georgia"/>
                <a:ea typeface="Georgia"/>
                <a:cs typeface="Georgia"/>
                <a:sym typeface="Georgia"/>
              </a:rPr>
              <a:t>females</a:t>
            </a:r>
            <a:r>
              <a:rPr lang="en-GB">
                <a:latin typeface="Georgia"/>
                <a:ea typeface="Georgia"/>
                <a:cs typeface="Georgia"/>
                <a:sym typeface="Georgia"/>
              </a:rPr>
              <a:t>. Specifically, Gen Z males average </a:t>
            </a:r>
            <a:r>
              <a:rPr b="1" lang="en-GB">
                <a:latin typeface="Georgia"/>
                <a:ea typeface="Georgia"/>
                <a:cs typeface="Georgia"/>
                <a:sym typeface="Georgia"/>
              </a:rPr>
              <a:t>14.32 months</a:t>
            </a:r>
            <a:r>
              <a:rPr lang="en-GB">
                <a:latin typeface="Georgia"/>
                <a:ea typeface="Georgia"/>
                <a:cs typeface="Georgia"/>
                <a:sym typeface="Georgia"/>
              </a:rPr>
              <a:t> while females average </a:t>
            </a:r>
            <a:r>
              <a:rPr b="1" lang="en-GB">
                <a:latin typeface="Georgia"/>
                <a:ea typeface="Georgia"/>
                <a:cs typeface="Georgia"/>
                <a:sym typeface="Georgia"/>
              </a:rPr>
              <a:t>13.16 months</a:t>
            </a:r>
            <a:r>
              <a:rPr lang="en-GB">
                <a:latin typeface="Georgia"/>
                <a:ea typeface="Georgia"/>
                <a:cs typeface="Georgia"/>
                <a:sym typeface="Georgia"/>
              </a:rPr>
              <a:t>, indicating a retention gap for younger female employees. In contrast, among Millennials and Gen X, males also show slightly longer retention than females.</a:t>
            </a:r>
            <a:endParaRPr>
              <a:latin typeface="Georgia"/>
              <a:ea typeface="Georgia"/>
              <a:cs typeface="Georgia"/>
              <a:sym typeface="Georgia"/>
            </a:endParaRPr>
          </a:p>
          <a:p>
            <a:pPr indent="-342900" lvl="0" marL="457200" rtl="0" algn="just">
              <a:spcBef>
                <a:spcPts val="0"/>
              </a:spcBef>
              <a:spcAft>
                <a:spcPts val="0"/>
              </a:spcAft>
              <a:buSzPts val="1800"/>
              <a:buFont typeface="Georgia"/>
              <a:buChar char="●"/>
            </a:pPr>
            <a:r>
              <a:rPr lang="en-GB">
                <a:latin typeface="Georgia"/>
                <a:ea typeface="Georgia"/>
                <a:cs typeface="Georgia"/>
                <a:sym typeface="Georgia"/>
              </a:rPr>
              <a:t>Gen Z exhibits a notable count of "</a:t>
            </a:r>
            <a:r>
              <a:rPr b="1" lang="en-GB">
                <a:latin typeface="Georgia"/>
                <a:ea typeface="Georgia"/>
                <a:cs typeface="Georgia"/>
                <a:sym typeface="Georgia"/>
              </a:rPr>
              <a:t>Strong Performers" (82)</a:t>
            </a:r>
            <a:r>
              <a:rPr lang="en-GB">
                <a:latin typeface="Georgia"/>
                <a:ea typeface="Georgia"/>
                <a:cs typeface="Georgia"/>
                <a:sym typeface="Georgia"/>
              </a:rPr>
              <a:t>, but their departure poses a significant financial and intellectual burden for GenTech. In total, </a:t>
            </a:r>
            <a:r>
              <a:rPr b="1" lang="en-GB">
                <a:latin typeface="Georgia"/>
                <a:ea typeface="Georgia"/>
                <a:cs typeface="Georgia"/>
                <a:sym typeface="Georgia"/>
              </a:rPr>
              <a:t>941</a:t>
            </a:r>
            <a:r>
              <a:rPr lang="en-GB">
                <a:latin typeface="Georgia"/>
                <a:ea typeface="Georgia"/>
                <a:cs typeface="Georgia"/>
                <a:sym typeface="Georgia"/>
              </a:rPr>
              <a:t> employees rated as </a:t>
            </a:r>
            <a:r>
              <a:rPr b="1" lang="en-GB">
                <a:latin typeface="Georgia"/>
                <a:ea typeface="Georgia"/>
                <a:cs typeface="Georgia"/>
                <a:sym typeface="Georgia"/>
              </a:rPr>
              <a:t>Competent</a:t>
            </a:r>
            <a:r>
              <a:rPr lang="en-GB">
                <a:latin typeface="Georgia"/>
                <a:ea typeface="Georgia"/>
                <a:cs typeface="Georgia"/>
                <a:sym typeface="Georgia"/>
              </a:rPr>
              <a:t> left, alongside </a:t>
            </a:r>
            <a:r>
              <a:rPr b="1" lang="en-GB">
                <a:latin typeface="Georgia"/>
                <a:ea typeface="Georgia"/>
                <a:cs typeface="Georgia"/>
                <a:sym typeface="Georgia"/>
              </a:rPr>
              <a:t>339</a:t>
            </a:r>
            <a:r>
              <a:rPr lang="en-GB">
                <a:latin typeface="Georgia"/>
                <a:ea typeface="Georgia"/>
                <a:cs typeface="Georgia"/>
                <a:sym typeface="Georgia"/>
              </a:rPr>
              <a:t> Developing and </a:t>
            </a:r>
            <a:r>
              <a:rPr b="1" lang="en-GB">
                <a:latin typeface="Georgia"/>
                <a:ea typeface="Georgia"/>
                <a:cs typeface="Georgia"/>
                <a:sym typeface="Georgia"/>
              </a:rPr>
              <a:t>264</a:t>
            </a:r>
            <a:r>
              <a:rPr lang="en-GB">
                <a:latin typeface="Georgia"/>
                <a:ea typeface="Georgia"/>
                <a:cs typeface="Georgia"/>
                <a:sym typeface="Georgia"/>
              </a:rPr>
              <a:t> Strong Performers. Alarmingly, </a:t>
            </a:r>
            <a:r>
              <a:rPr b="1" lang="en-GB">
                <a:latin typeface="Georgia"/>
                <a:ea typeface="Georgia"/>
                <a:cs typeface="Georgia"/>
                <a:sym typeface="Georgia"/>
              </a:rPr>
              <a:t>172</a:t>
            </a:r>
            <a:r>
              <a:rPr lang="en-GB">
                <a:latin typeface="Georgia"/>
                <a:ea typeface="Georgia"/>
                <a:cs typeface="Georgia"/>
                <a:sym typeface="Georgia"/>
              </a:rPr>
              <a:t> Outstanding performers also exited, indicating attrition affects all performance levels. </a:t>
            </a:r>
            <a:r>
              <a:rPr b="1" lang="en-GB">
                <a:latin typeface="Georgia"/>
                <a:ea typeface="Georgia"/>
                <a:cs typeface="Georgia"/>
                <a:sym typeface="Georgia"/>
              </a:rPr>
              <a:t>Gen Z led in departures among Competent and Outstanding categories</a:t>
            </a:r>
            <a:r>
              <a:rPr lang="en-GB">
                <a:latin typeface="Georgia"/>
                <a:ea typeface="Georgia"/>
                <a:cs typeface="Georgia"/>
                <a:sym typeface="Georgia"/>
              </a:rPr>
              <a:t>, highlighting the potential loss of skilled young talent.</a:t>
            </a:r>
            <a:endParaRPr>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2567150" y="134950"/>
            <a:ext cx="30714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Recommendations</a:t>
            </a:r>
            <a:endParaRPr/>
          </a:p>
        </p:txBody>
      </p:sp>
      <p:sp>
        <p:nvSpPr>
          <p:cNvPr id="136" name="Google Shape;136;p21"/>
          <p:cNvSpPr txBox="1"/>
          <p:nvPr>
            <p:ph idx="1" type="body"/>
          </p:nvPr>
        </p:nvSpPr>
        <p:spPr>
          <a:xfrm>
            <a:off x="132900" y="763950"/>
            <a:ext cx="4212900" cy="4067700"/>
          </a:xfrm>
          <a:prstGeom prst="rect">
            <a:avLst/>
          </a:prstGeom>
        </p:spPr>
        <p:txBody>
          <a:bodyPr anchorCtr="0" anchor="t" bIns="91425" lIns="91425" spcFirstLastPara="1" rIns="91425" wrap="square" tIns="91425">
            <a:noAutofit/>
          </a:bodyPr>
          <a:lstStyle/>
          <a:p>
            <a:pPr indent="0" lvl="0" marL="0" rtl="0" algn="just">
              <a:spcBef>
                <a:spcPts val="1400"/>
              </a:spcBef>
              <a:spcAft>
                <a:spcPts val="0"/>
              </a:spcAft>
              <a:buNone/>
            </a:pPr>
            <a:r>
              <a:rPr b="1" lang="en-GB" sz="1500">
                <a:solidFill>
                  <a:srgbClr val="000000"/>
                </a:solidFill>
                <a:latin typeface="Georgia"/>
                <a:ea typeface="Georgia"/>
                <a:cs typeface="Georgia"/>
                <a:sym typeface="Georgia"/>
              </a:rPr>
              <a:t>1. The "Software Engineering" Intervention (Target: Gen Z)</a:t>
            </a:r>
            <a:endParaRPr b="1" sz="1500">
              <a:solidFill>
                <a:srgbClr val="000000"/>
              </a:solidFill>
              <a:latin typeface="Georgia"/>
              <a:ea typeface="Georgia"/>
              <a:cs typeface="Georgia"/>
              <a:sym typeface="Georgia"/>
            </a:endParaRPr>
          </a:p>
          <a:p>
            <a:pPr indent="-323850" lvl="0" marL="457200" rtl="0" algn="just">
              <a:spcBef>
                <a:spcPts val="1200"/>
              </a:spcBef>
              <a:spcAft>
                <a:spcPts val="0"/>
              </a:spcAft>
              <a:buClr>
                <a:srgbClr val="000000"/>
              </a:buClr>
              <a:buSzPts val="1500"/>
              <a:buFont typeface="Arial"/>
              <a:buChar char="●"/>
            </a:pPr>
            <a:r>
              <a:rPr b="1" lang="en-GB" sz="1500">
                <a:solidFill>
                  <a:srgbClr val="000000"/>
                </a:solidFill>
                <a:latin typeface="Georgia"/>
                <a:ea typeface="Georgia"/>
                <a:cs typeface="Georgia"/>
                <a:sym typeface="Georgia"/>
              </a:rPr>
              <a:t>The Issue:</a:t>
            </a:r>
            <a:r>
              <a:rPr lang="en-GB" sz="1500">
                <a:solidFill>
                  <a:srgbClr val="000000"/>
                </a:solidFill>
                <a:latin typeface="Georgia"/>
                <a:ea typeface="Georgia"/>
                <a:cs typeface="Georgia"/>
                <a:sym typeface="Georgia"/>
              </a:rPr>
              <a:t> Gen Z exits technical roles at exactly the 12-month mark (average 12.0 months).</a:t>
            </a:r>
            <a:endParaRPr sz="1500">
              <a:solidFill>
                <a:srgbClr val="000000"/>
              </a:solidFill>
              <a:latin typeface="Georgia"/>
              <a:ea typeface="Georgia"/>
              <a:cs typeface="Georgia"/>
              <a:sym typeface="Georgia"/>
            </a:endParaRPr>
          </a:p>
          <a:p>
            <a:pPr indent="-323850" lvl="0" marL="457200" rtl="0" algn="just">
              <a:spcBef>
                <a:spcPts val="0"/>
              </a:spcBef>
              <a:spcAft>
                <a:spcPts val="0"/>
              </a:spcAft>
              <a:buClr>
                <a:srgbClr val="000000"/>
              </a:buClr>
              <a:buSzPts val="1500"/>
              <a:buFont typeface="Arial"/>
              <a:buChar char="●"/>
            </a:pPr>
            <a:r>
              <a:rPr b="1" lang="en-GB" sz="1500">
                <a:solidFill>
                  <a:srgbClr val="000000"/>
                </a:solidFill>
                <a:latin typeface="Georgia"/>
                <a:ea typeface="Georgia"/>
                <a:cs typeface="Georgia"/>
                <a:sym typeface="Georgia"/>
              </a:rPr>
              <a:t>Recommendation:</a:t>
            </a:r>
            <a:r>
              <a:rPr lang="en-GB" sz="1500">
                <a:solidFill>
                  <a:srgbClr val="000000"/>
                </a:solidFill>
                <a:latin typeface="Georgia"/>
                <a:ea typeface="Georgia"/>
                <a:cs typeface="Georgia"/>
                <a:sym typeface="Georgia"/>
              </a:rPr>
              <a:t> Implement a </a:t>
            </a:r>
            <a:r>
              <a:rPr b="1" lang="en-GB" sz="1500">
                <a:solidFill>
                  <a:srgbClr val="000000"/>
                </a:solidFill>
                <a:latin typeface="Georgia"/>
                <a:ea typeface="Georgia"/>
                <a:cs typeface="Georgia"/>
                <a:sym typeface="Georgia"/>
              </a:rPr>
              <a:t>"First-Year Milestone" Bonus or Promotion Track</a:t>
            </a:r>
            <a:r>
              <a:rPr lang="en-GB" sz="1500">
                <a:solidFill>
                  <a:srgbClr val="000000"/>
                </a:solidFill>
                <a:latin typeface="Georgia"/>
                <a:ea typeface="Georgia"/>
                <a:cs typeface="Georgia"/>
                <a:sym typeface="Georgia"/>
              </a:rPr>
              <a:t>.</a:t>
            </a:r>
            <a:endParaRPr sz="1500">
              <a:solidFill>
                <a:srgbClr val="000000"/>
              </a:solidFill>
              <a:latin typeface="Georgia"/>
              <a:ea typeface="Georgia"/>
              <a:cs typeface="Georgia"/>
              <a:sym typeface="Georgia"/>
            </a:endParaRPr>
          </a:p>
          <a:p>
            <a:pPr indent="-323850" lvl="0" marL="457200" rtl="0" algn="just">
              <a:spcBef>
                <a:spcPts val="0"/>
              </a:spcBef>
              <a:spcAft>
                <a:spcPts val="0"/>
              </a:spcAft>
              <a:buClr>
                <a:srgbClr val="000000"/>
              </a:buClr>
              <a:buSzPts val="1500"/>
              <a:buFont typeface="Arial"/>
              <a:buChar char="●"/>
            </a:pPr>
            <a:r>
              <a:rPr b="1" lang="en-GB" sz="1500">
                <a:solidFill>
                  <a:srgbClr val="000000"/>
                </a:solidFill>
                <a:latin typeface="Georgia"/>
                <a:ea typeface="Georgia"/>
                <a:cs typeface="Georgia"/>
                <a:sym typeface="Georgia"/>
              </a:rPr>
              <a:t>Action:</a:t>
            </a:r>
            <a:r>
              <a:rPr lang="en-GB" sz="1500">
                <a:solidFill>
                  <a:srgbClr val="000000"/>
                </a:solidFill>
                <a:latin typeface="Georgia"/>
                <a:ea typeface="Georgia"/>
                <a:cs typeface="Georgia"/>
                <a:sym typeface="Georgia"/>
              </a:rPr>
              <a:t> Introduce "Junior Developer II" titles or skill-based pay bumps at the 10-month mark to incentivize Gen Z to stay past the critical one-year "leak" point. Provide a clear 24-month career roadmap during onboarding.</a:t>
            </a:r>
            <a:endParaRPr sz="1500">
              <a:latin typeface="Georgia"/>
              <a:ea typeface="Georgia"/>
              <a:cs typeface="Georgia"/>
              <a:sym typeface="Georgia"/>
            </a:endParaRPr>
          </a:p>
        </p:txBody>
      </p:sp>
      <p:sp>
        <p:nvSpPr>
          <p:cNvPr id="137" name="Google Shape;137;p21"/>
          <p:cNvSpPr txBox="1"/>
          <p:nvPr/>
        </p:nvSpPr>
        <p:spPr>
          <a:xfrm>
            <a:off x="4414600" y="742750"/>
            <a:ext cx="4626900" cy="349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400"/>
              </a:spcBef>
              <a:spcAft>
                <a:spcPts val="0"/>
              </a:spcAft>
              <a:buNone/>
            </a:pPr>
            <a:r>
              <a:rPr b="1" lang="en-GB" sz="1500">
                <a:latin typeface="Georgia"/>
                <a:ea typeface="Georgia"/>
                <a:cs typeface="Georgia"/>
                <a:sym typeface="Georgia"/>
              </a:rPr>
              <a:t>2. Mentorship &amp; Knowledge Transfer (Target: Baby Boomers)</a:t>
            </a:r>
            <a:endParaRPr b="1" sz="1500">
              <a:latin typeface="Georgia"/>
              <a:ea typeface="Georgia"/>
              <a:cs typeface="Georgia"/>
              <a:sym typeface="Georgia"/>
            </a:endParaRPr>
          </a:p>
          <a:p>
            <a:pPr indent="-323850" lvl="0" marL="457200" rtl="0" algn="just">
              <a:lnSpc>
                <a:spcPct val="115000"/>
              </a:lnSpc>
              <a:spcBef>
                <a:spcPts val="1200"/>
              </a:spcBef>
              <a:spcAft>
                <a:spcPts val="0"/>
              </a:spcAft>
              <a:buSzPts val="1500"/>
              <a:buChar char="●"/>
            </a:pPr>
            <a:r>
              <a:rPr b="1" lang="en-GB" sz="1500">
                <a:latin typeface="Georgia"/>
                <a:ea typeface="Georgia"/>
                <a:cs typeface="Georgia"/>
                <a:sym typeface="Georgia"/>
              </a:rPr>
              <a:t>The Issue:</a:t>
            </a:r>
            <a:r>
              <a:rPr lang="en-GB" sz="1500">
                <a:latin typeface="Georgia"/>
                <a:ea typeface="Georgia"/>
                <a:cs typeface="Georgia"/>
                <a:sym typeface="Georgia"/>
              </a:rPr>
              <a:t> High stability in leadership but high replacement cost.</a:t>
            </a:r>
            <a:endParaRPr sz="1500">
              <a:latin typeface="Georgia"/>
              <a:ea typeface="Georgia"/>
              <a:cs typeface="Georgia"/>
              <a:sym typeface="Georgia"/>
            </a:endParaRPr>
          </a:p>
          <a:p>
            <a:pPr indent="-323850" lvl="0" marL="457200" rtl="0" algn="just">
              <a:lnSpc>
                <a:spcPct val="115000"/>
              </a:lnSpc>
              <a:spcBef>
                <a:spcPts val="0"/>
              </a:spcBef>
              <a:spcAft>
                <a:spcPts val="0"/>
              </a:spcAft>
              <a:buSzPts val="1500"/>
              <a:buChar char="●"/>
            </a:pPr>
            <a:r>
              <a:rPr b="1" lang="en-GB" sz="1500">
                <a:latin typeface="Georgia"/>
                <a:ea typeface="Georgia"/>
                <a:cs typeface="Georgia"/>
                <a:sym typeface="Georgia"/>
              </a:rPr>
              <a:t>Recommendation:</a:t>
            </a:r>
            <a:r>
              <a:rPr lang="en-GB" sz="1500">
                <a:latin typeface="Georgia"/>
                <a:ea typeface="Georgia"/>
                <a:cs typeface="Georgia"/>
                <a:sym typeface="Georgia"/>
              </a:rPr>
              <a:t> Launch a </a:t>
            </a:r>
            <a:r>
              <a:rPr b="1" lang="en-GB" sz="1500">
                <a:latin typeface="Georgia"/>
                <a:ea typeface="Georgia"/>
                <a:cs typeface="Georgia"/>
                <a:sym typeface="Georgia"/>
              </a:rPr>
              <a:t>Reverse Mentorship Program</a:t>
            </a:r>
            <a:r>
              <a:rPr lang="en-GB" sz="1500">
                <a:latin typeface="Georgia"/>
                <a:ea typeface="Georgia"/>
                <a:cs typeface="Georgia"/>
                <a:sym typeface="Georgia"/>
              </a:rPr>
              <a:t>.</a:t>
            </a:r>
            <a:endParaRPr sz="1500">
              <a:latin typeface="Georgia"/>
              <a:ea typeface="Georgia"/>
              <a:cs typeface="Georgia"/>
              <a:sym typeface="Georgia"/>
            </a:endParaRPr>
          </a:p>
          <a:p>
            <a:pPr indent="-323850" lvl="0" marL="457200" rtl="0" algn="just">
              <a:lnSpc>
                <a:spcPct val="115000"/>
              </a:lnSpc>
              <a:spcBef>
                <a:spcPts val="0"/>
              </a:spcBef>
              <a:spcAft>
                <a:spcPts val="0"/>
              </a:spcAft>
              <a:buSzPts val="1500"/>
              <a:buChar char="●"/>
            </a:pPr>
            <a:r>
              <a:rPr b="1" lang="en-GB" sz="1500">
                <a:latin typeface="Georgia"/>
                <a:ea typeface="Georgia"/>
                <a:cs typeface="Georgia"/>
                <a:sym typeface="Georgia"/>
              </a:rPr>
              <a:t>Action:</a:t>
            </a:r>
            <a:r>
              <a:rPr lang="en-GB" sz="1500">
                <a:latin typeface="Georgia"/>
                <a:ea typeface="Georgia"/>
                <a:cs typeface="Georgia"/>
                <a:sym typeface="Georgia"/>
              </a:rPr>
              <a:t> Pair Baby Boomers (who have 27+ months of tenure in Admin/Executive roles) with Gen Z new hires. This rewards Boomers with a "Legacy" role and provides Gen Z with the professional connection they lack, potentially increasing tenure for both.</a:t>
            </a:r>
            <a:endParaRPr sz="1500">
              <a:solidFill>
                <a:schemeClr val="dk2"/>
              </a:solidFill>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idx="1" type="body"/>
          </p:nvPr>
        </p:nvSpPr>
        <p:spPr>
          <a:xfrm>
            <a:off x="0" y="0"/>
            <a:ext cx="2791800" cy="4887000"/>
          </a:xfrm>
          <a:prstGeom prst="rect">
            <a:avLst/>
          </a:prstGeom>
        </p:spPr>
        <p:txBody>
          <a:bodyPr anchorCtr="0" anchor="t" bIns="91425" lIns="91425" spcFirstLastPara="1" rIns="91425" wrap="square" tIns="91425">
            <a:noAutofit/>
          </a:bodyPr>
          <a:lstStyle/>
          <a:p>
            <a:pPr indent="0" lvl="0" marL="0" rtl="0" algn="just">
              <a:spcBef>
                <a:spcPts val="1400"/>
              </a:spcBef>
              <a:spcAft>
                <a:spcPts val="0"/>
              </a:spcAft>
              <a:buNone/>
            </a:pPr>
            <a:r>
              <a:rPr b="1" lang="en-GB" sz="1400">
                <a:solidFill>
                  <a:srgbClr val="000000"/>
                </a:solidFill>
                <a:latin typeface="Georgia"/>
                <a:ea typeface="Georgia"/>
                <a:cs typeface="Georgia"/>
                <a:sym typeface="Georgia"/>
              </a:rPr>
              <a:t>3. Career Flexibility &amp; Growth (Target: Millennials)</a:t>
            </a:r>
            <a:endParaRPr b="1" sz="1400">
              <a:solidFill>
                <a:srgbClr val="000000"/>
              </a:solidFill>
              <a:latin typeface="Georgia"/>
              <a:ea typeface="Georgia"/>
              <a:cs typeface="Georgia"/>
              <a:sym typeface="Georgia"/>
            </a:endParaRPr>
          </a:p>
          <a:p>
            <a:pPr indent="-317500" lvl="0" marL="457200" rtl="0" algn="just">
              <a:spcBef>
                <a:spcPts val="1200"/>
              </a:spcBef>
              <a:spcAft>
                <a:spcPts val="0"/>
              </a:spcAft>
              <a:buClr>
                <a:srgbClr val="000000"/>
              </a:buClr>
              <a:buSzPts val="1400"/>
              <a:buFont typeface="Arial"/>
              <a:buChar char="●"/>
            </a:pPr>
            <a:r>
              <a:rPr b="1" lang="en-GB" sz="1400">
                <a:solidFill>
                  <a:srgbClr val="000000"/>
                </a:solidFill>
                <a:latin typeface="Georgia"/>
                <a:ea typeface="Georgia"/>
                <a:cs typeface="Georgia"/>
                <a:sym typeface="Georgia"/>
              </a:rPr>
              <a:t>The Issue:</a:t>
            </a:r>
            <a:r>
              <a:rPr lang="en-GB" sz="1400">
                <a:solidFill>
                  <a:srgbClr val="000000"/>
                </a:solidFill>
                <a:latin typeface="Georgia"/>
                <a:ea typeface="Georgia"/>
                <a:cs typeface="Georgia"/>
                <a:sym typeface="Georgia"/>
              </a:rPr>
              <a:t> Largest volume of exits (582) and low tenure in Sales.</a:t>
            </a:r>
            <a:endParaRPr sz="1400">
              <a:solidFill>
                <a:srgbClr val="000000"/>
              </a:solidFill>
              <a:latin typeface="Georgia"/>
              <a:ea typeface="Georgia"/>
              <a:cs typeface="Georgia"/>
              <a:sym typeface="Georgia"/>
            </a:endParaRPr>
          </a:p>
          <a:p>
            <a:pPr indent="-317500" lvl="0" marL="457200" rtl="0" algn="just">
              <a:spcBef>
                <a:spcPts val="0"/>
              </a:spcBef>
              <a:spcAft>
                <a:spcPts val="0"/>
              </a:spcAft>
              <a:buClr>
                <a:srgbClr val="000000"/>
              </a:buClr>
              <a:buSzPts val="1400"/>
              <a:buFont typeface="Arial"/>
              <a:buChar char="●"/>
            </a:pPr>
            <a:r>
              <a:rPr b="1" lang="en-GB" sz="1400">
                <a:solidFill>
                  <a:srgbClr val="000000"/>
                </a:solidFill>
                <a:latin typeface="Georgia"/>
                <a:ea typeface="Georgia"/>
                <a:cs typeface="Georgia"/>
                <a:sym typeface="Georgia"/>
              </a:rPr>
              <a:t>Recommendation:</a:t>
            </a:r>
            <a:r>
              <a:rPr lang="en-GB" sz="1400">
                <a:solidFill>
                  <a:srgbClr val="000000"/>
                </a:solidFill>
                <a:latin typeface="Georgia"/>
                <a:ea typeface="Georgia"/>
                <a:cs typeface="Georgia"/>
                <a:sym typeface="Georgia"/>
              </a:rPr>
              <a:t> </a:t>
            </a:r>
            <a:r>
              <a:rPr b="1" lang="en-GB" sz="1400">
                <a:solidFill>
                  <a:srgbClr val="000000"/>
                </a:solidFill>
                <a:latin typeface="Georgia"/>
                <a:ea typeface="Georgia"/>
                <a:cs typeface="Georgia"/>
                <a:sym typeface="Georgia"/>
              </a:rPr>
              <a:t>Internal Mobility &amp; "Work-From-Anywhere" Credits</a:t>
            </a:r>
            <a:r>
              <a:rPr lang="en-GB" sz="1400">
                <a:solidFill>
                  <a:srgbClr val="000000"/>
                </a:solidFill>
                <a:latin typeface="Georgia"/>
                <a:ea typeface="Georgia"/>
                <a:cs typeface="Georgia"/>
                <a:sym typeface="Georgia"/>
              </a:rPr>
              <a:t>.</a:t>
            </a:r>
            <a:endParaRPr sz="1400">
              <a:solidFill>
                <a:srgbClr val="000000"/>
              </a:solidFill>
              <a:latin typeface="Georgia"/>
              <a:ea typeface="Georgia"/>
              <a:cs typeface="Georgia"/>
              <a:sym typeface="Georgia"/>
            </a:endParaRPr>
          </a:p>
          <a:p>
            <a:pPr indent="-317500" lvl="0" marL="457200" rtl="0" algn="just">
              <a:spcBef>
                <a:spcPts val="0"/>
              </a:spcBef>
              <a:spcAft>
                <a:spcPts val="0"/>
              </a:spcAft>
              <a:buClr>
                <a:srgbClr val="000000"/>
              </a:buClr>
              <a:buSzPts val="1400"/>
              <a:buFont typeface="Arial"/>
              <a:buChar char="●"/>
            </a:pPr>
            <a:r>
              <a:rPr b="1" lang="en-GB" sz="1400">
                <a:solidFill>
                  <a:srgbClr val="000000"/>
                </a:solidFill>
                <a:latin typeface="Georgia"/>
                <a:ea typeface="Georgia"/>
                <a:cs typeface="Georgia"/>
                <a:sym typeface="Georgia"/>
              </a:rPr>
              <a:t>Action:</a:t>
            </a:r>
            <a:r>
              <a:rPr lang="en-GB" sz="1400">
                <a:solidFill>
                  <a:srgbClr val="000000"/>
                </a:solidFill>
                <a:latin typeface="Georgia"/>
                <a:ea typeface="Georgia"/>
                <a:cs typeface="Georgia"/>
                <a:sym typeface="Georgia"/>
              </a:rPr>
              <a:t> Since Millennials are often in a "mid-career" phase, offer internal rotation programs to different departments (e.g., moving from Sales to IT/IS) to prevent stagnation without them leaving the company.</a:t>
            </a:r>
            <a:endParaRPr sz="1400">
              <a:latin typeface="Georgia"/>
              <a:ea typeface="Georgia"/>
              <a:cs typeface="Georgia"/>
              <a:sym typeface="Georgia"/>
            </a:endParaRPr>
          </a:p>
        </p:txBody>
      </p:sp>
      <p:sp>
        <p:nvSpPr>
          <p:cNvPr id="143" name="Google Shape;143;p22"/>
          <p:cNvSpPr txBox="1"/>
          <p:nvPr/>
        </p:nvSpPr>
        <p:spPr>
          <a:xfrm>
            <a:off x="2893950" y="0"/>
            <a:ext cx="3105300" cy="4887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None/>
            </a:pPr>
            <a:r>
              <a:rPr b="1" lang="en-GB">
                <a:latin typeface="Georgia"/>
                <a:ea typeface="Georgia"/>
                <a:cs typeface="Georgia"/>
                <a:sym typeface="Georgia"/>
              </a:rPr>
              <a:t>4. Training ROI Optimization (Company-Wide)</a:t>
            </a:r>
            <a:endParaRPr b="1">
              <a:latin typeface="Georgia"/>
              <a:ea typeface="Georgia"/>
              <a:cs typeface="Georgia"/>
              <a:sym typeface="Georgia"/>
            </a:endParaRPr>
          </a:p>
          <a:p>
            <a:pPr indent="-317500" lvl="0" marL="457200" rtl="0" algn="just">
              <a:lnSpc>
                <a:spcPct val="115000"/>
              </a:lnSpc>
              <a:spcBef>
                <a:spcPts val="1200"/>
              </a:spcBef>
              <a:spcAft>
                <a:spcPts val="0"/>
              </a:spcAft>
              <a:buSzPts val="1400"/>
              <a:buChar char="●"/>
            </a:pPr>
            <a:r>
              <a:rPr b="1" lang="en-GB">
                <a:latin typeface="Georgia"/>
                <a:ea typeface="Georgia"/>
                <a:cs typeface="Georgia"/>
                <a:sym typeface="Georgia"/>
              </a:rPr>
              <a:t>The Issue:</a:t>
            </a:r>
            <a:r>
              <a:rPr lang="en-GB">
                <a:latin typeface="Georgia"/>
                <a:ea typeface="Georgia"/>
                <a:cs typeface="Georgia"/>
                <a:sym typeface="Georgia"/>
              </a:rPr>
              <a:t> Equal spending on training ($561) across all generations despite vastly different retention periods.</a:t>
            </a:r>
            <a:endParaRPr>
              <a:latin typeface="Georgia"/>
              <a:ea typeface="Georgia"/>
              <a:cs typeface="Georgia"/>
              <a:sym typeface="Georgia"/>
            </a:endParaRPr>
          </a:p>
          <a:p>
            <a:pPr indent="-317500" lvl="0" marL="457200" rtl="0" algn="just">
              <a:lnSpc>
                <a:spcPct val="115000"/>
              </a:lnSpc>
              <a:spcBef>
                <a:spcPts val="0"/>
              </a:spcBef>
              <a:spcAft>
                <a:spcPts val="0"/>
              </a:spcAft>
              <a:buSzPts val="1400"/>
              <a:buChar char="●"/>
            </a:pPr>
            <a:r>
              <a:rPr b="1" lang="en-GB">
                <a:latin typeface="Georgia"/>
                <a:ea typeface="Georgia"/>
                <a:cs typeface="Georgia"/>
                <a:sym typeface="Georgia"/>
              </a:rPr>
              <a:t>Recommendation:</a:t>
            </a:r>
            <a:r>
              <a:rPr lang="en-GB">
                <a:latin typeface="Georgia"/>
                <a:ea typeface="Georgia"/>
                <a:cs typeface="Georgia"/>
                <a:sym typeface="Georgia"/>
              </a:rPr>
              <a:t> </a:t>
            </a:r>
            <a:r>
              <a:rPr b="1" lang="en-GB">
                <a:latin typeface="Georgia"/>
                <a:ea typeface="Georgia"/>
                <a:cs typeface="Georgia"/>
                <a:sym typeface="Georgia"/>
              </a:rPr>
              <a:t>Phased Training Investment</a:t>
            </a:r>
            <a:r>
              <a:rPr lang="en-GB">
                <a:latin typeface="Georgia"/>
                <a:ea typeface="Georgia"/>
                <a:cs typeface="Georgia"/>
                <a:sym typeface="Georgia"/>
              </a:rPr>
              <a:t>.</a:t>
            </a:r>
            <a:endParaRPr>
              <a:latin typeface="Georgia"/>
              <a:ea typeface="Georgia"/>
              <a:cs typeface="Georgia"/>
              <a:sym typeface="Georgia"/>
            </a:endParaRPr>
          </a:p>
          <a:p>
            <a:pPr indent="-317500" lvl="0" marL="457200" rtl="0" algn="just">
              <a:lnSpc>
                <a:spcPct val="115000"/>
              </a:lnSpc>
              <a:spcBef>
                <a:spcPts val="0"/>
              </a:spcBef>
              <a:spcAft>
                <a:spcPts val="0"/>
              </a:spcAft>
              <a:buSzPts val="1400"/>
              <a:buChar char="●"/>
            </a:pPr>
            <a:r>
              <a:rPr b="1" lang="en-GB">
                <a:latin typeface="Georgia"/>
                <a:ea typeface="Georgia"/>
                <a:cs typeface="Georgia"/>
                <a:sym typeface="Georgia"/>
              </a:rPr>
              <a:t>Action:</a:t>
            </a:r>
            <a:r>
              <a:rPr lang="en-GB">
                <a:latin typeface="Georgia"/>
                <a:ea typeface="Georgia"/>
                <a:cs typeface="Georgia"/>
                <a:sym typeface="Georgia"/>
              </a:rPr>
              <a:t> Instead of front-loading all training costs in the first 3 months, spread the budget across the first 18 months. Offer "Advanced Certification Credits" that unlock only after 14 months of tenure to encourage employees to stay to "claim" their full training value.</a:t>
            </a:r>
            <a:endParaRPr>
              <a:solidFill>
                <a:schemeClr val="dk2"/>
              </a:solidFill>
              <a:latin typeface="Georgia"/>
              <a:ea typeface="Georgia"/>
              <a:cs typeface="Georgia"/>
              <a:sym typeface="Georgia"/>
            </a:endParaRPr>
          </a:p>
        </p:txBody>
      </p:sp>
      <p:sp>
        <p:nvSpPr>
          <p:cNvPr id="144" name="Google Shape;144;p22"/>
          <p:cNvSpPr txBox="1"/>
          <p:nvPr/>
        </p:nvSpPr>
        <p:spPr>
          <a:xfrm>
            <a:off x="5999250" y="0"/>
            <a:ext cx="3144600" cy="4023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400"/>
              </a:spcBef>
              <a:spcAft>
                <a:spcPts val="0"/>
              </a:spcAft>
              <a:buNone/>
            </a:pPr>
            <a:r>
              <a:rPr b="1" lang="en-GB">
                <a:latin typeface="Georgia"/>
                <a:ea typeface="Georgia"/>
                <a:cs typeface="Georgia"/>
                <a:sym typeface="Georgia"/>
              </a:rPr>
              <a:t>5. Gender-Specific Engagement (Target: Gen Z Females)</a:t>
            </a:r>
            <a:endParaRPr b="1">
              <a:latin typeface="Georgia"/>
              <a:ea typeface="Georgia"/>
              <a:cs typeface="Georgia"/>
              <a:sym typeface="Georgia"/>
            </a:endParaRPr>
          </a:p>
          <a:p>
            <a:pPr indent="-317500" lvl="0" marL="457200" rtl="0" algn="just">
              <a:lnSpc>
                <a:spcPct val="115000"/>
              </a:lnSpc>
              <a:spcBef>
                <a:spcPts val="1200"/>
              </a:spcBef>
              <a:spcAft>
                <a:spcPts val="0"/>
              </a:spcAft>
              <a:buSzPts val="1400"/>
              <a:buChar char="●"/>
            </a:pPr>
            <a:r>
              <a:rPr b="1" lang="en-GB">
                <a:latin typeface="Georgia"/>
                <a:ea typeface="Georgia"/>
                <a:cs typeface="Georgia"/>
                <a:sym typeface="Georgia"/>
              </a:rPr>
              <a:t>The Issue:</a:t>
            </a:r>
            <a:r>
              <a:rPr lang="en-GB">
                <a:latin typeface="Georgia"/>
                <a:ea typeface="Georgia"/>
                <a:cs typeface="Georgia"/>
                <a:sym typeface="Georgia"/>
              </a:rPr>
              <a:t> Female Gen Z employees leave nearly a full month earlier than males.</a:t>
            </a:r>
            <a:endParaRPr>
              <a:latin typeface="Georgia"/>
              <a:ea typeface="Georgia"/>
              <a:cs typeface="Georgia"/>
              <a:sym typeface="Georgia"/>
            </a:endParaRPr>
          </a:p>
          <a:p>
            <a:pPr indent="-317500" lvl="0" marL="457200" rtl="0" algn="just">
              <a:lnSpc>
                <a:spcPct val="115000"/>
              </a:lnSpc>
              <a:spcBef>
                <a:spcPts val="0"/>
              </a:spcBef>
              <a:spcAft>
                <a:spcPts val="0"/>
              </a:spcAft>
              <a:buSzPts val="1400"/>
              <a:buChar char="●"/>
            </a:pPr>
            <a:r>
              <a:rPr b="1" lang="en-GB">
                <a:latin typeface="Georgia"/>
                <a:ea typeface="Georgia"/>
                <a:cs typeface="Georgia"/>
                <a:sym typeface="Georgia"/>
              </a:rPr>
              <a:t>Recommendation:</a:t>
            </a:r>
            <a:r>
              <a:rPr lang="en-GB">
                <a:latin typeface="Georgia"/>
                <a:ea typeface="Georgia"/>
                <a:cs typeface="Georgia"/>
                <a:sym typeface="Georgia"/>
              </a:rPr>
              <a:t> </a:t>
            </a:r>
            <a:r>
              <a:rPr b="1" lang="en-GB">
                <a:latin typeface="Georgia"/>
                <a:ea typeface="Georgia"/>
                <a:cs typeface="Georgia"/>
                <a:sym typeface="Georgia"/>
              </a:rPr>
              <a:t>Targeted ERGs (Employee Resource Groups)</a:t>
            </a:r>
            <a:r>
              <a:rPr lang="en-GB">
                <a:latin typeface="Georgia"/>
                <a:ea typeface="Georgia"/>
                <a:cs typeface="Georgia"/>
                <a:sym typeface="Georgia"/>
              </a:rPr>
              <a:t>.</a:t>
            </a:r>
            <a:endParaRPr>
              <a:latin typeface="Georgia"/>
              <a:ea typeface="Georgia"/>
              <a:cs typeface="Georgia"/>
              <a:sym typeface="Georgia"/>
            </a:endParaRPr>
          </a:p>
          <a:p>
            <a:pPr indent="-317500" lvl="0" marL="457200" rtl="0" algn="just">
              <a:lnSpc>
                <a:spcPct val="115000"/>
              </a:lnSpc>
              <a:spcBef>
                <a:spcPts val="0"/>
              </a:spcBef>
              <a:spcAft>
                <a:spcPts val="0"/>
              </a:spcAft>
              <a:buSzPts val="1400"/>
              <a:buChar char="●"/>
            </a:pPr>
            <a:r>
              <a:rPr b="1" lang="en-GB">
                <a:latin typeface="Georgia"/>
                <a:ea typeface="Georgia"/>
                <a:cs typeface="Georgia"/>
                <a:sym typeface="Georgia"/>
              </a:rPr>
              <a:t>Action:</a:t>
            </a:r>
            <a:r>
              <a:rPr lang="en-GB">
                <a:latin typeface="Georgia"/>
                <a:ea typeface="Georgia"/>
                <a:cs typeface="Georgia"/>
                <a:sym typeface="Georgia"/>
              </a:rPr>
              <a:t> Establish a "Women in Tech" mentorship cohort specifically for new hires in Software Engineering and Production to address the early exit trend among Gen Z women.</a:t>
            </a:r>
            <a:endParaRPr>
              <a:solidFill>
                <a:schemeClr val="dk2"/>
              </a:solidFill>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1000"/>
                                        <p:tgtEl>
                                          <p:spTgt spid="14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
                                        </p:tgtEl>
                                        <p:attrNameLst>
                                          <p:attrName>style.visibility</p:attrName>
                                        </p:attrNameLst>
                                      </p:cBhvr>
                                      <p:to>
                                        <p:strVal val="visible"/>
                                      </p:to>
                                    </p:set>
                                    <p:anim calcmode="lin" valueType="num">
                                      <p:cBhvr additive="base">
                                        <p:cTn dur="1000"/>
                                        <p:tgtEl>
                                          <p:spTgt spid="14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4"/>
                                        </p:tgtEl>
                                        <p:attrNameLst>
                                          <p:attrName>style.visibility</p:attrName>
                                        </p:attrNameLst>
                                      </p:cBhvr>
                                      <p:to>
                                        <p:strVal val="visible"/>
                                      </p:to>
                                    </p:set>
                                    <p:anim calcmode="lin" valueType="num">
                                      <p:cBhvr additive="base">
                                        <p:cTn dur="1000"/>
                                        <p:tgtEl>
                                          <p:spTgt spid="14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Overall Strategic Direction</a:t>
            </a:r>
            <a:endParaRPr/>
          </a:p>
        </p:txBody>
      </p:sp>
      <p:sp>
        <p:nvSpPr>
          <p:cNvPr id="150" name="Google Shape;150;p23"/>
          <p:cNvSpPr txBox="1"/>
          <p:nvPr>
            <p:ph idx="1" type="body"/>
          </p:nvPr>
        </p:nvSpPr>
        <p:spPr>
          <a:xfrm>
            <a:off x="77900" y="1017800"/>
            <a:ext cx="8520600" cy="3339000"/>
          </a:xfrm>
          <a:prstGeom prst="rect">
            <a:avLst/>
          </a:prstGeom>
        </p:spPr>
        <p:txBody>
          <a:bodyPr anchorCtr="0" anchor="t" bIns="91425" lIns="91425" spcFirstLastPara="1" rIns="91425" wrap="square" tIns="91425">
            <a:normAutofit fontScale="92500" lnSpcReduction="10000"/>
          </a:bodyPr>
          <a:lstStyle/>
          <a:p>
            <a:pPr indent="0" lvl="0" marL="0" rtl="0" algn="just">
              <a:lnSpc>
                <a:spcPct val="150000"/>
              </a:lnSpc>
              <a:spcBef>
                <a:spcPts val="0"/>
              </a:spcBef>
              <a:spcAft>
                <a:spcPts val="1200"/>
              </a:spcAft>
              <a:buNone/>
            </a:pPr>
            <a:r>
              <a:rPr lang="en-GB">
                <a:latin typeface="Georgia"/>
                <a:ea typeface="Georgia"/>
                <a:cs typeface="Georgia"/>
                <a:sym typeface="Georgia"/>
              </a:rPr>
              <a:t>To solve the 'Leaky Bucket,' GenTech must stop treating the workforce as a monolith. The company should adjust its Software Engineering approach by emphasizing 10-month retention milestones and utilizing Executive Baby Boomers as mentors. This strategy aims to safeguard the average training investment of $556 and extend the current 16-month employee lifecycle. Key focus areas include enhancing early-career retention, promoting gender equity, and implementing department-specific strategies while ensuring training efficacy and leadership continuity. By tackling the rapid turnover of younger staff and affirming the value of high-performing employees, GenTech can lower attrition rates, boost engagement, and establish a more sustainable talent pipeline.</a:t>
            </a:r>
            <a:endParaRPr>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20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p:nvPr/>
        </p:nvSpPr>
        <p:spPr>
          <a:xfrm>
            <a:off x="2477238" y="1041575"/>
            <a:ext cx="4189523" cy="1887761"/>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accent1"/>
                </a:solidFill>
                <a:latin typeface="Georgia"/>
              </a:rPr>
              <a:t>Q&amp;A</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2000"/>
                                        <p:tgtEl>
                                          <p:spTgt spid="15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